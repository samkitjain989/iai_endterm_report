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c9eda7c-2508-16b3-7589-d39ee68df241}">
          <p14:sldIdLst>
            <p14:sldId id="256"/>
          </p14:sldIdLst>
        </p14:section>
        <p14:section name="The problem" id="{5078684b-bdb2-af86-5a6b-40fce782c1e1}">
          <p14:sldIdLst>
            <p14:sldId id="257"/>
          </p14:sldIdLst>
        </p14:section>
        <p14:section name="Four ways AI helps" id="{99391a5d-3e86-112d-bcb3-e22f07f03b44}">
          <p14:sldIdLst>
            <p14:sldId id="258"/>
            <p14:sldId id="259"/>
            <p14:sldId id="260"/>
            <p14:sldId id="261"/>
          </p14:sldIdLst>
        </p14:section>
        <p14:section name="Solutions and way forward" id="{a2a9594a-64ac-d0aa-7529-5dc8e0b368d2}">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21"/>
                </a:solidFill>
                <a:latin typeface="+mn-lt"/>
              </a:defRPr>
            </a:pPr>
            <a:r>
              <a:rPr sz="1400" b="0" i="0" u="none" strike="noStrike">
                <a:solidFill>
                  <a:srgbClr val="1B2A21"/>
                </a:solidFill>
                <a:latin typeface="+mn-lt"/>
              </a:rPr>
              <a:t>Agriculture's share of India (%)</a:t>
            </a:r>
          </a:p>
        </c:rich>
      </c:tx>
      <c:layout/>
      <c:overlay val="0"/>
    </c:title>
    <c:autoTitleDeleted val="0"/>
    <c:plotArea>
      <c:layout/>
      <c:barChart>
        <c:barDir val="col"/>
        <c:grouping val="clustered"/>
        <c:varyColors val="0"/>
        <c:ser>
          <c:idx val="0"/>
          <c:order val="0"/>
          <c:tx>
            <c:strRef>
              <c:f>Sheet1!$B$1</c:f>
              <c:strCache>
                <c:ptCount val="1"/>
                <c:pt idx="0">
                  <c:v>Share</c:v>
                </c:pt>
              </c:strCache>
            </c:strRef>
          </c:tx>
          <c:spPr>
            <a:solidFill>
              <a:srgbClr val="2E7D4F"/>
            </a:solidFill>
            <a:effectLst/>
          </c:spPr>
          <c:invertIfNegative val="0"/>
          <c:dLbls>
            <c:numFmt formatCode="0.0&quot;%&quot;" sourceLinked="0"/>
            <c:txPr>
              <a:bodyPr/>
              <a:lstStyle/>
              <a:p>
                <a:pPr>
                  <a:defRPr b="1" i="0" strike="noStrike" sz="1400" u="none">
                    <a:solidFill>
                      <a:srgbClr val="1B2A21"/>
                    </a:solidFill>
                    <a:latin typeface="+mn-lt"/>
                  </a:defRPr>
                </a:pPr>
              </a:p>
            </c:txPr>
            <c:showLegendKey val="0"/>
            <c:showVal val="1"/>
            <c:showCatName val="0"/>
            <c:showSerName val="0"/>
            <c:showPercent val="0"/>
            <c:showBubbleSize val="0"/>
            <c:showLeaderLines val="0"/>
          </c:dLbls>
          <c:dPt>
            <c:idx val="0"/>
            <c:invertIfNegative val="0"/>
            <c:bubble3D val="0"/>
            <c:spPr>
              <a:solidFill>
                <a:srgbClr val="2E7D4F"/>
              </a:solidFill>
              <a:effectLst/>
            </c:spPr>
          </c:dPt>
          <c:dPt>
            <c:idx val="1"/>
            <c:invertIfNegative val="0"/>
            <c:bubble3D val="0"/>
            <c:spPr>
              <a:solidFill>
                <a:srgbClr val="E3A72F"/>
              </a:solidFill>
              <a:effectLst/>
            </c:spPr>
          </c:dPt>
          <c:cat>
            <c:multiLvlStrRef>
              <c:f>Sheet1!$A$2:$A$3</c:f>
              <c:multiLvlStrCache>
                <c:ptCount val="2"/>
                <c:lvl>
                  <c:pt idx="0">
                    <c:v>Share of India's workers</c:v>
                  </c:pt>
                  <c:pt idx="1">
                    <c:v>Share of India's output (GVA)</c:v>
                  </c:pt>
                </c:lvl>
              </c:multiLvlStrCache>
            </c:multiLvlStrRef>
          </c:cat>
          <c:val>
            <c:numRef>
              <c:f>Sheet1!$B$2:$B$3</c:f>
              <c:numCache>
                <c:formatCode>General</c:formatCode>
                <c:ptCount val="2"/>
                <c:pt idx="0">
                  <c:v>46.1</c:v>
                </c:pt>
                <c:pt idx="1">
                  <c:v>17.8</c:v>
                </c:pt>
              </c:numCache>
            </c:numRef>
          </c:val>
        </c:ser>
        <c:dLbls>
          <c:numFmt formatCode="0.0&quot;%&quot;" sourceLinked="0"/>
          <c:txPr>
            <a:bodyPr/>
            <a:lstStyle/>
            <a:p>
              <a:pPr>
                <a:defRPr b="1" i="0" strike="noStrike" sz="1400" u="none">
                  <a:solidFill>
                    <a:srgbClr val="1B2A2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21"/>
                </a:solidFill>
                <a:latin typeface="+mn-lt"/>
              </a:defRPr>
            </a:pPr>
            <a:endParaRPr lang="en-US"/>
          </a:p>
        </c:txPr>
        <c:crossAx val="2094734552"/>
        <c:crosses val="autoZero"/>
        <c:auto val="1"/>
        <c:lblAlgn val="ctr"/>
        <c:noMultiLvlLbl val="1"/>
      </c:catAx>
      <c:valAx>
        <c:axId val="2094734552"/>
        <c:scaling>
          <c:orientation val="minMax"/>
          <c:max val="5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21"/>
                </a:solidFill>
                <a:latin typeface="+mn-lt"/>
              </a:defRPr>
            </a:pPr>
            <a:r>
              <a:rPr sz="1400" b="0" i="0" u="none" strike="noStrike">
                <a:solidFill>
                  <a:srgbClr val="1B2A21"/>
                </a:solidFill>
                <a:latin typeface="+mn-lt"/>
              </a:rPr>
              <a:t>One leaf-disease model, two tests (accuracy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2E7D4F"/>
            </a:solidFill>
            <a:effectLst/>
          </c:spPr>
          <c:invertIfNegative val="0"/>
          <c:dLbls>
            <c:numFmt formatCode="0.0#&quot;%&quot;" sourceLinked="0"/>
            <c:txPr>
              <a:bodyPr/>
              <a:lstStyle/>
              <a:p>
                <a:pPr>
                  <a:defRPr b="1" i="0" strike="noStrike" sz="1400" u="none">
                    <a:solidFill>
                      <a:srgbClr val="1B2A21"/>
                    </a:solidFill>
                    <a:latin typeface="+mn-lt"/>
                  </a:defRPr>
                </a:pPr>
              </a:p>
            </c:txPr>
            <c:showLegendKey val="0"/>
            <c:showVal val="1"/>
            <c:showCatName val="0"/>
            <c:showSerName val="0"/>
            <c:showPercent val="0"/>
            <c:showBubbleSize val="0"/>
            <c:showLeaderLines val="0"/>
          </c:dLbls>
          <c:dPt>
            <c:idx val="0"/>
            <c:invertIfNegative val="0"/>
            <c:bubble3D val="0"/>
            <c:spPr>
              <a:solidFill>
                <a:srgbClr val="2E7D4F"/>
              </a:solidFill>
              <a:effectLst/>
            </c:spPr>
          </c:dPt>
          <c:dPt>
            <c:idx val="1"/>
            <c:invertIfNegative val="0"/>
            <c:bubble3D val="0"/>
            <c:spPr>
              <a:solidFill>
                <a:srgbClr val="B5432C"/>
              </a:solidFill>
              <a:effectLst/>
            </c:spPr>
          </c:dPt>
          <c:cat>
            <c:multiLvlStrRef>
              <c:f>Sheet1!$A$2:$A$3</c:f>
              <c:multiLvlStrCache>
                <c:ptCount val="2"/>
                <c:lvl>
                  <c:pt idx="0">
                    <c:v>Lab test images</c:v>
                  </c:pt>
                  <c:pt idx="1">
                    <c:v>Images from other conditions</c:v>
                  </c:pt>
                </c:lvl>
              </c:multiLvlStrCache>
            </c:multiLvlStrRef>
          </c:cat>
          <c:val>
            <c:numRef>
              <c:f>Sheet1!$B$2:$B$3</c:f>
              <c:numCache>
                <c:formatCode>General</c:formatCode>
                <c:ptCount val="2"/>
                <c:pt idx="0">
                  <c:v>99.35</c:v>
                </c:pt>
                <c:pt idx="1">
                  <c:v>31.4</c:v>
                </c:pt>
              </c:numCache>
            </c:numRef>
          </c:val>
        </c:ser>
        <c:dLbls>
          <c:numFmt formatCode="0.0#&quot;%&quot;" sourceLinked="0"/>
          <c:txPr>
            <a:bodyPr/>
            <a:lstStyle/>
            <a:p>
              <a:pPr>
                <a:defRPr b="1" i="0" strike="noStrike" sz="1400" u="none">
                  <a:solidFill>
                    <a:srgbClr val="1B2A2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21"/>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(about 15 seconds).
SAY:
Good morning. Our topic is AI in agriculture. Indian farmers face unpredictable weather, pest attacks and low yields. We ask how AI can help through crop monitoring, pest detection, yield prediction and supply chain management, so that farmers earn more.
TEAM PLAN (8 minutes, every member speaks):
Member 1: slides 1, 2 and the farmer app on slide 7.
Member 2: slide 3 and the market price part of slide 7.
Member 3: slide 4 and the roadmap on slide 8.
Member 4: slide 5 and the risks on slide 8.
Member 5: slide 6 and the results and conclusion on slide 8.
Member order matches the name cards on this slide: Member 1 = Srinivasa Reddy, Member 2 = Soumya Arya, Member 3 = Samkit Jain, Member 4 = Rushi Anilkumar, Member 5 = Sumant Kumar. Swap the plan above if you prefer a different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(about 1 minute).
SAY (read this; about 126 words):
First, why farming matters. Nearly half of India's workers, 46.1 per cent, work in agriculture, but it produces only 17.8 per cent of national output. About 86 per cent of farm holdings are under two hectares, and an average farm household earns just 13,661 rupees a month, with only a third from farming. Four problems hold incomes down: unpredictable weather, such as the 2022 heat wave that cut wheat yields by 15 to 20 per cent in affected areas; pests, which take up to 40 per cent of global crops; low and uncertain yields; and weak markets. AI can start with root cause analysis. Using abductive reasoning from our course, it finds the most likely cause of a yield drop, so farmers fix the real problem.
BACKUP DETAIL (for questions, do not read aloud):
Why it matters: 46.1% of India's workers are in agriculture (PLFS 2023-24), but agriculture produces only about 17.8% of gross value added (MoSPI, 2025). About 86% of holdings are under 2 hectares, and the average holding is 1.08 hectares (Agriculture Census 2015-16). NABARD's 2021-22 survey puts an average farm household's income at Rs 13,661 a month, with cultivation giving only about one third of it.
The four problems: (1) weather: the March 2022 heat wave cut wheat yields by 15 to 20% in affected areas and the government cut its wheat estimate by 5.7% (CGIAR, 2022). (2) pests: FAO estimates up to 40% of global crop production is lost to pests each year (a global figure, not an Indian average). (3) low yields on tiny plots with limited advice. (4) weak markets: researchers note small and marginal farmers often sell cheaply before produce spoils.
Root cause analysis: this is where AI can start. Abductive reasoning (from our course) means choosing the best explanation for what we observe, for example a yield drop. AI can compare weather, soil, satellite images and input records to point to the most likely cause, so the farmer fixes the real problem.
Transition: "Now let us see the four ways AI helps, starting with crop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(about 1 minute).
SAY (read this; about 112 words):
Pillar one is crop monitoring. Satellites, drones and sensors feed AI models, and farmers get field-level advice on when to sow, irrigate and fertilise. In course terms this is perception. A convolutional neural network picks out the edges and textures that show crop stress. Clustering groups similar zones in a field without labels, and Edge AI lets drones work without internet. Microsoft and ICRISAT sent sowing advice by SMS, and a pilot with 175 farmers reported yields up to 30 per cent higher, though that is developer-reported over one season. Cropin and DeHaat also use AI here. The challenge is small plots: a 0.6 hectare farm is only about 60 satellite pixels.
BACKUP DETAIL (for questions, do not read aloud):
Crop monitoring means watching the crop continuously instead of walking the field. Data comes from satellites, drones, weather feeds, soil sensors and farmer photos. In our course terms this is Perception: AI's eyes and ears. A convolutional neural network (CNN) uses small filters that slide over an image to detect edges and textures, which is how stress or poor growth shows up. Clustering (K-means) groups similar zones in a field without labels, so a farmer can treat each zone differently. Edge AI lets a drone analyse crops on the device, which matters where internet is weak.
Evidence: Microsoft and ICRISAT sent sowing advice by SMS to feature phones in Andhra Pradesh. In the 2016 pilot with 175 farmers, the company reported yields up to 30% higher, and 10 to 30% across more than 3,000 farmers in 2017. Be honest: this was reported by the developer, over one season, and a dry spell in August hurt early sowers that year, so it is promising but not proven.
Who else: the Digital Agriculture Mission (approved September 2024, Rs 2,817 crore) is building AgriStack and the Krishi Decision Support System. Cropin is a Bengaluru agritech with 22 AI models covering crop detection, yield estimates, irrigation scheduling and pest and disease prediction (TechCrunch, 2022). DeHaat gives AI advice for more than 30 crops in regional languages (its NITI Aayog profile is self-submitted).
Challenge: at 10 m resolution one pixel is 0.01 hectare, so a 0.6 ha average small farm is only about 60 pixels (our own calculation), and optical satellites cannot see through monsoon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(about 1 minute).
SAY (read this; about 128 words):
Pillar two is pest and disease detection. A phone photo or a trap image becomes a diagnosis and a spray decision. This chart shows overfitting, which we studied in class. A leaf-disease model scored 99.35 per cent on lab images but only 31.4 per cent on images from other conditions, so models must be tested in real fields. In the CottonAce trial in Karnataka, farmers using AI advice got about 17 per cent more cotton per acre, but in a wet year there was no significant gain. The spray threshold shows precision versus recall: lowering it to four moths catches more outbreaks but raises false alarms. John Deere's See and Spray applies the same idea to weeds, with about 50 per cent less herbicide, according to the company.
BACKUP DETAIL (for questions, do not read aloud):
Pest and disease detection turns a phone photo or a trap image into a diagnosis, a pest count and a spray decision. FAO estimates up to 40% of global crop production is lost to pests each year.
The chart is the key lesson from our course on overfitting. Mohanty et al. (2016) trained a CNN on 54,306 leaf images covering 14 crops and 26 diseases and reached 99.35% accuracy on a held-out test set. On images taken under different conditions the accuracy fell to 31.4%. This is the same pattern as our course example of 95% training accuracy and 72% test accuracy: the model learned the dataset, not the field. So any farmer app must be tested and retrained on real field photos.
CottonAce by Wadhwani AI: lead farmers photograph moths in pheromone traps, the app counts them, and advice goes to the group when the count crosses a threshold. In a Karnataka summer 2020 pilot, 38 adopters averaged 15.3 quintals per acre against 13.1 for 41 comparison farmers, about 17% more, and revenue was roughly a quarter higher (calculated from the paper's table). A larger 2021-22 experiment found no significant benefit because heavy rain meant fewer pests. The threshold was lowered from 8 to 4 moths per trap per night: that raises recall (fewer missed outbreaks) but lowers precision (more unnecessary advisories). Precision versus recall is a business choice, and here a missed outbreak costs more than a false alarm.
John Deere See &amp; Spray (global benchmark): cameras and on-board AI spray only the weeds. Deere reports more than 5 million acres in 2025 and nearly 50% less non-residual herbicide. These are company figures, for large farms.
Root cause analysis again: abductive reasoning links symptoms (yellow leaves, spots) to the best explanation (pest, disease, nutrient or water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4 (about 55 seconds).
SAY (read this; about 116 words):
Pillar three is yield prediction. We collect weather, soil, satellite and past yield data, then train a supervised regression model, which predicts a number. Deep models such as CNNs and LSTMs are the most used, and an LSTM is a type of RNN that remembers earlier steps. We judge models on unseen data using RMSE, and we give a range, not one number. Bayes' theorem helps: if the monsoon looks normal but three dry weeks follow, the risk of a low yield rises and we alert farmers. In India, YES-TECH uses satellite and weather models for crop insurance, but a model that is right on average can be wrong for one village, so field checks stay.
BACKUP DETAIL (for questions, do not read aloud):
Yield prediction forecasts output for a field, village or district. Step 1, collect weather, soil, satellite indices, sowing dates and past yields. Step 2, train a supervised model. In our course, regression predicts a number, like a broker pricing a flat from its features. A review of machine learning studies by van Klompenburg and colleagues (2020) looked at 50 machine learning studies and then 30 deep learning studies; among deep models, CNNs were the most used, followed by LSTM and deep neural networks. An LSTM is a type of RNN, which keeps a memory of earlier steps, so it suits seasonal time series. Step 3, give a range, not a single number. Step 4, act on it.
Model evaluation (course): split data into training, validation and test sets and judge a regression model with RMSE. A model must be tested on villages it has never seen, because nearby fields share weather and soil and a random split flatters the model.
Bayes' theorem (course): start with a prior (the monsoon is expected to be normal), add evidence (three dry weeks), and the posterior risk of a low yield rises, so we alert farmers early.
In India the main use is insurance. Since July 2023 the Ministry of Agriculture's YES-TECH uses satellite, weather and models alongside crop-cutting experiments under PM Fasal Bima Yojana. The Centre for Science and Environment found mixed reactions in Madhya Pradesh, with insurers strongly in favour, and recommended covering more crops. Watch-out: a model right on average can be wrong for one village, and crop-cutting experiments remain the ground truth. Yield forecasts also feed price forecasts: in Karnataka a model used satellite-based yield predictions to forecast tur prices three months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5 (about 1 minute).
SAY (read this; about 121 words):
Pillar four is supply chain and prices. Farmers receive only about a third of the consumer's rupee for tomato, onion and potato. AI forecasts demand so less produce rots, and it plans routes. Routing is a Vehicle Routing Problem, and genetic algorithms, ant colony methods and A star search help solve it. Ninjacart moves over 1,500 tonnes a day, but it lost 256 crore rupees in FY25, so viability matters. For prices, the government's Agmarknet portal publishes daily prices. Deep learning models that also use weather data forecast tomato, onion and potato prices better than statistical models, and a research tool shows small farmers forecasts with uncertainty ranges. Farmers can then decide when and where to sell, or whether to store.
BACKUP DETAIL (for questions, do not read aloud):
Why the chain matters: an RBI working paper (October 2024) estimates the farmer's share of the consumer rupee at about 33% for tomato, 36% for onion and 37% for potato. Logistics: AI forecasts demand so collection centres take only what will sell, and it plans routes. Route planning is a Vehicle Routing Problem. In our course, genetic algorithms (selection, crossover, mutation) and ant colony optimisation are used for routing, and A* search finds the shortest path; Flipkart and Amazon use these ideas for last-mile delivery. Demand sensing adds outside signals such as weather.
Ninjacart (founded 2015) buys produce from farmers and supplies retailers and businesses. Inc42 (2026) reports more than 1,500 tonnes a day, more than 40 cities and more than 150,000 farmers. Claims of under 12 hours from farm to store, under 1% wastage and 15 to 20% higher farmer income come from the company's own pages and are not audited. Its FY25 revenue fell from Rs 2,007 crore to Rs 1,634 crore with a net loss of Rs 256 crore, so the farmer benefit lasts only as long as the buyer stays viable. DeHaat reports 1.8 million farmers, 12 states and 503 farmer producer organisations (self-submitted NITI Aayog profile).
Market prices: Agmarknet, the government portal, publishes daily minimum, maximum and modal prices and arrivals. Studies on this data forecast prices; a 2024 Scientific Reports study found deep learning models that also use weather data had lower error than statistical and machine learning models for tomato, onion and potato. A research tool for small farmers shows forecasts with uncertainty ranges on a mobile phone. In Karnataka, tur prices were forecast three months ahead. Course link: price forecasting is regression on a time series, and dynamic pricing at Uber and Ola uses the same idea. Benefit: farmers choose when and where to sell and whether to store, and avoid distress sales. Limit: rural price data is patchy and a forecast is not a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SPEAKERS: Member 1 for the farmer app (about 50 seconds), then Member 2 for more solutions (about 35 seconds).
SAY (read this; about 150 words):
MEMBER 1: Now the solutions. Our main idea is an AI-powered farmer app that speaks the farmer's language. A farmer can ask by voice, send a photo of a leaf, and get help on crops, pests, fertilisers, weeds, weather and mandi prices. Under the hood is a transformer language model, grounded in a knowledge graph of crops, pests and treatments to reduce hallucination, with an expert one tap away. It already works: Maharashtra's MahaVISTAAR-AI has over 10 lakh downloads, and Bharat-VISTAAR works on feature phones.
MEMBER 2: Other solutions include a price advisor with sell-or-store alerts, early warnings by SMS or voice, precise use of water and fertiliser, faster insurance claims, and shared AI services through producer groups, so small farmers need not own machines. An agentic AI helper can take a goal, like the best day to harvest and sell, and check weather, prices and transport for the farmer.
BACKUP DETAIL (for questions, do not read aloud):
AI-powered farmer app. The idea is a voice-first assistant in the farmer's own language. A farmer can ask about crops, pests and diseases, fertilisers and weeds, or send a photo of a leaf, and get simple answers. This uses a Transformer-based large language model (course: it predicts the next word, which is why it can hallucinate), so we ground it in a knowledge graph of crops, pests, diseases and treatments from trusted sources such as agricultural universities, with an expert one tap away. Multimodal AI lets one app take a photo, a voice message and text. A hybrid recommendation approach suits advice: collaborative filtering learns from similar farmers, and content-based rules handle new farmers with no history (the cold start problem). Edge AI keeps basic features working offline.
It is already working in India. MahaVISTAAR-AI, launched by the Maharashtra Government on 21 May 2025, answers by voice or text in local languages and has crossed 10 lakh downloads (The Hitavada, June 2026). It uses Bhashini for language support. Bharat-VISTAAR is a national voice-first platform that includes support for farmers without smartphones (NITI Aayog Frontier Tech Hub, 2026).
More solutions: (1) price and market advisor with sell-or-store alerts from mandi data; (2) early warnings by SMS or voice call; (3) precision inputs, the right water, fertiliser and spray, so costs fall; (4) faster insurance claims from satellite yield estimates; (5) shared AI services through farmer producer organisations, since a 1.08 hectare farmer cannot own machines; (6) an agentic AI helper: give it a goal such as "best day to harvest and sell my onions" and it checks weather, prices and transport and acts in steps (course: agentic AI plans, uses tools and remembers).
The phone screen is an illustrative mock-up, not a real product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SPEAKERS: Member 3 (roadmap, about 20 seconds), Member 4 (risks, about 25 seconds), Member 5 (results and conclusion, about 35 seconds).
SAY (read this; about 156 words):
MEMBER 3: To make it work, start with quick wins in six months, such as a voice advisory and price alerts, then pest warning and yield models, then shared AI services and local datasets. Readiness comes first: data, talent and process.
MEMBER 4: Risks need care. Models trained in one region can be biased elsewhere. Farm data should stay local, and the plan for 11 crore farmer IDs needs consent rules. Answers should be grounded and explainable. And phone ownership is 83.9 per cent for men but 56.2 per cent for women, so voice and SMS matter.
MEMBER 5: Success is measured by return on investment. Our estimate: a 20 per cent rise in cultivation income adds about 910 rupees a month, around 7 per cent of household income. In conclusion, AI helps farmers most when it is voice-first, shared, tested against a comparison group and judged by net income. Thank you. We welcome your questions.
BACKUP DETAIL (for questions, do not read aloud):
Roadmap (course: three horizons). Quick wins in 0 to 6 months build trust: a voice advisory and price alerts. Core transformation in 6 to 18 months: pest early warning, field monitoring and yield models at scale. Strategic differentiation in 18 to 36 months: shared AI services and proprietary local datasets. First check AI readiness: data, talent and process. Course failure modes to avoid: data poverty, pilot purgatory and metrics mismatch (optimising accuracy instead of income).
Risks and responsible AI (course: fairness, transparency, accountability, privacy, safety). Data and deployment bias: a model trained on one region or crop can fail elsewhere, as the 99.35% versus 31.4% example showed. Privacy: federated learning trains models without moving raw data, and the plan to issue digital IDs to 11 crore farmers (PIB, 2024) needs clear consent rules. Black box problem: pair deep models with simple explainable rules for advice, and ground language models in trusted sources. Access: the NSO telecom survey (2025) found 70% of people aged 15 and above used the internet, but phone ownership was 83.9% for men and 56.2% for women, so voice and SMS matter.
Results. ROI = (Benefit - Cost) divided by Cost, times 100. Lead with one hard number, support it with soft benefits, close with strategic value, and also state the payback period. Our own back-of-envelope estimate: NABARD's average farm household earns Rs 13,661 a month and cultivation gives about one third, about Rs 4,550. A 20% rise in cultivation income adds about Rs 910 a month, roughly 7% of household income. That is real money but not transformative, which is why costs, fees and shared services matter.
Conclusion: AI helps most when it is voice-first, shared, tested against a comparison group and judged by net income. Thank you. We are happy to take questions.
LIKELY Q&amp;A
Q: Why not just give subsidies? A: Both help. AI lowers costs and risk, so each rupee of subsidy goes further, but it does not replace support.
Q: Can small farmers afford this? A: Not individually. Hence shared services through producer organisations, SMS and voice, and per-acre fees.
Q: Is the evidence strong? A: Mixed. The best field trial showed about 17% higher yield in one year and no significant benefit in a wet year. Many figures are company-reported.
Q: What about job losses? A: Automation may reduce some farm labour, so skills and local employment need planning.
SOURCES (full list)
CGIAR (2022). Wheat versus heat. Deere &amp; Company (2025). John Deere customers use See &amp; Spray technology across five million acres in 2025. FAO (2021). Climate change fans spread of pests and threatens plants and crops. Ghate and Kulkarni (2024). Artificial intelligence and nature-based solutions in agriculture: a BT cotton pest management case study in India (preprint, doi 10.32388/NFGP2F). Inc42 (2026). Ninjacart nets $6 Mn from Accel, Nandan Nilekani. Mahaur and Khurana (2026). Implementation of YES-TECH in Madhya Pradesh, Centre for Science and Environment. Microsoft Stories India (2017). Digital agriculture: farmers in India are using AI to increase crop yields. Ministry of Agriculture and Farmers Welfare (2023). Lok Sabha Unstarred Question 4403. Ministry of Labour and Employment (2024). Lok Sabha Unstarred Question 3300. MoSPI (2025). Statistical report on value of output from agriculture and allied sectors. Mint (2018). Small and marginal farmers own just 47.3% of crop area. Mohanty, Hughes and Salathe (2016). Using deep learning for image-based plant disease detection, Frontiers in Plant Science 7:1419. NABARD (2024). Empowering rural India: NABARD survey on rural financial inclusion. NSO (2025). Comprehensive Modular Survey: Telecom 2025. NITI Aayog (2025). DeHaat's AI-enabled agriculture network. NITI Aayog Frontier Tech Hub (2026). How Bharat-VISTAAR is connecting farmers. Ninjacart (n.d.) company blog. PIB (2024). Digital Agriculture Mission. TechCrunch (2022). Agritech company Cropin launches its cloud platform. The Hitavada (2026). AI Farmer: 1.06 lakh farmers from Nagpur district embrace AI-powered guidance. Elets eGov (2025). Maharashtra launches MahaVISTAAR-AI. van Klompenburg, Kassahun and Catal (2020). Crop yield prediction using machine learning: a systematic literature review, Computers and Electronics in Agriculture 177. RBI (2024). Vegetables inflation in India: a study of tomato, onion and potato, RBI Working Paper 08/2024. Ma et al. (2018). An interpretable produce price forecasting system for small and marginal farmers in India using collaborative filtering and adaptive nearest neighbors (arXiv 1812.05173). Nayak et al. (2024). Exogenous variable driven deep learning models for improved price forecasting of TOP crops in India, Scientific Reports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chemeClr val="tx2"/>
          </a:solidFill>
          <a:ln/>
        </p:spPr>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0D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0D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3.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label"/>
          <p:cNvSpPr txBox="1"/>
          <p:nvPr/>
        </p:nvSpPr>
        <p:spPr>
          <a:xfrm>
            <a:off x="640080" y="502920"/>
            <a:ext cx="8229600" cy="320040"/>
          </a:xfrm>
          <a:prstGeom prst="rect">
            <a:avLst/>
          </a:prstGeom>
          <a:noFill/>
          <a:ln/>
        </p:spPr>
        <p:txBody>
          <a:bodyPr wrap="square" lIns="0" tIns="0" rIns="0" bIns="0" rtlCol="0" anchor="ctr"/>
          <a:lstStyle/>
          <a:p>
            <a:pPr indent="0" marL="0">
              <a:buNone/>
            </a:pPr>
            <a:r>
              <a:rPr lang="en-US" sz="1400" b="1" spc="200" kern="0" dirty="0">
                <a:solidFill>
                  <a:schemeClr val="accent2"/>
                </a:solidFill>
              </a:rPr>
              <a:t>INTRODUCTION TO ARTIFICIAL INTELLIGENCE  |  GROUP PRESENTATION</a:t>
            </a:r>
            <a:endParaRPr lang="en-US" sz="1400" dirty="0"/>
          </a:p>
        </p:txBody>
      </p:sp>
      <p:sp>
        <p:nvSpPr>
          <p:cNvPr id="3" name="Deck title"/>
          <p:cNvSpPr txBox="1"/>
          <p:nvPr/>
        </p:nvSpPr>
        <p:spPr>
          <a:xfrm>
            <a:off x="640080" y="914400"/>
            <a:ext cx="6949440" cy="1005840"/>
          </a:xfrm>
          <a:prstGeom prst="rect">
            <a:avLst/>
          </a:prstGeom>
          <a:noFill/>
          <a:ln/>
        </p:spPr>
        <p:txBody>
          <a:bodyPr wrap="square" lIns="0" tIns="0" rIns="0" bIns="0" rtlCol="0" anchor="ctr"/>
          <a:lstStyle/>
          <a:p>
            <a:pPr indent="0" marL="0">
              <a:buNone/>
            </a:pPr>
            <a:r>
              <a:rPr lang="en-US" sz="5400" b="1" dirty="0">
                <a:solidFill>
                  <a:schemeClr val="bg1"/>
                </a:solidFill>
              </a:rPr>
              <a:t>AI in Agriculture</a:t>
            </a:r>
            <a:endParaRPr lang="en-US" sz="5400" dirty="0"/>
          </a:p>
        </p:txBody>
      </p:sp>
      <p:sp>
        <p:nvSpPr>
          <p:cNvPr id="4" name="Problem label"/>
          <p:cNvSpPr txBox="1"/>
          <p:nvPr/>
        </p:nvSpPr>
        <p:spPr>
          <a:xfrm>
            <a:off x="640080" y="2103120"/>
            <a:ext cx="4572000" cy="292608"/>
          </a:xfrm>
          <a:prstGeom prst="rect">
            <a:avLst/>
          </a:prstGeom>
          <a:noFill/>
          <a:ln/>
        </p:spPr>
        <p:txBody>
          <a:bodyPr wrap="square" lIns="0" tIns="0" rIns="0" bIns="0" rtlCol="0" anchor="ctr"/>
          <a:lstStyle/>
          <a:p>
            <a:pPr indent="0" marL="0">
              <a:buNone/>
            </a:pPr>
            <a:r>
              <a:rPr lang="en-US" sz="1400" b="1" spc="200" kern="0" dirty="0">
                <a:solidFill>
                  <a:schemeClr val="accent2"/>
                </a:solidFill>
              </a:rPr>
              <a:t>PROBLEM STATEMENT</a:t>
            </a:r>
            <a:endParaRPr lang="en-US" sz="1400" dirty="0"/>
          </a:p>
        </p:txBody>
      </p:sp>
      <p:sp>
        <p:nvSpPr>
          <p:cNvPr id="5" name="Problem box"/>
          <p:cNvSpPr/>
          <p:nvPr/>
        </p:nvSpPr>
        <p:spPr>
          <a:xfrm>
            <a:off x="640080" y="2468880"/>
            <a:ext cx="6858000" cy="1965960"/>
          </a:xfrm>
          <a:prstGeom prst="roundRect">
            <a:avLst>
              <a:gd name="adj" fmla="val 4651"/>
            </a:avLst>
          </a:prstGeom>
          <a:solidFill>
            <a:schemeClr val="bg1">
              <a:alpha val="10000"/>
            </a:schemeClr>
          </a:solidFill>
          <a:ln w="12700">
            <a:solidFill>
              <a:schemeClr val="accent6">
                <a:alpha val="60000"/>
              </a:schemeClr>
            </a:solidFill>
            <a:prstDash val="solid"/>
          </a:ln>
        </p:spPr>
      </p:sp>
      <p:sp>
        <p:nvSpPr>
          <p:cNvPr id="6" name="Problem statement"/>
          <p:cNvSpPr txBox="1"/>
          <p:nvPr/>
        </p:nvSpPr>
        <p:spPr>
          <a:xfrm>
            <a:off x="868680" y="2560320"/>
            <a:ext cx="6400800" cy="1783080"/>
          </a:xfrm>
          <a:prstGeom prst="rect">
            <a:avLst/>
          </a:prstGeom>
          <a:noFill/>
          <a:ln/>
        </p:spPr>
        <p:txBody>
          <a:bodyPr wrap="square" lIns="0" tIns="0" rIns="0" bIns="0" rtlCol="0" anchor="ctr"/>
          <a:lstStyle/>
          <a:p>
            <a:pPr indent="0" marL="0">
              <a:buNone/>
            </a:pPr>
            <a:r>
              <a:rPr lang="en-US" sz="2000" dirty="0">
                <a:solidFill>
                  <a:schemeClr val="bg1"/>
                </a:solidFill>
              </a:rPr>
              <a:t>Indian farmers are struggling with unpredictable weather, pest attacks, and low crop yields. How can AI be applied for crop monitoring, pest detection, yield prediction, and better supply chain management to improve farmer incomes?</a:t>
            </a:r>
            <a:endParaRPr lang="en-US" sz="2000" dirty="0"/>
          </a:p>
        </p:txBody>
      </p:sp>
      <p:sp>
        <p:nvSpPr>
          <p:cNvPr id="7" name="Icon circle"/>
          <p:cNvSpPr/>
          <p:nvPr/>
        </p:nvSpPr>
        <p:spPr>
          <a:xfrm>
            <a:off x="8549640" y="960120"/>
            <a:ext cx="1005840" cy="1005840"/>
          </a:xfrm>
          <a:prstGeom prst="ellipse">
            <a:avLst/>
          </a:prstGeom>
          <a:solidFill>
            <a:schemeClr val="accent1"/>
          </a:solidFill>
          <a:ln w="12700">
            <a:solidFill>
              <a:schemeClr val="accent1"/>
            </a:solidFill>
            <a:prstDash val="solid"/>
          </a:ln>
        </p:spPr>
      </p:sp>
      <p:pic>
        <p:nvPicPr>
          <p:cNvPr id="8" name="Image 0" descr="icon">    </p:cNvPr>
          <p:cNvPicPr>
            <a:picLocks noChangeAspect="1"/>
          </p:cNvPicPr>
          <p:nvPr/>
        </p:nvPicPr>
        <p:blipFill>
          <a:blip r:embed="rId1"/>
          <a:stretch>
            <a:fillRect/>
          </a:stretch>
        </p:blipFill>
        <p:spPr>
          <a:xfrm>
            <a:off x="8770925" y="1181405"/>
            <a:ext cx="563270" cy="563270"/>
          </a:xfrm>
          <a:prstGeom prst="rect">
            <a:avLst/>
          </a:prstGeom>
        </p:spPr>
      </p:pic>
      <p:sp>
        <p:nvSpPr>
          <p:cNvPr id="9" name="Pillar label"/>
          <p:cNvSpPr txBox="1"/>
          <p:nvPr/>
        </p:nvSpPr>
        <p:spPr>
          <a:xfrm>
            <a:off x="8138160" y="2039112"/>
            <a:ext cx="1737360" cy="548640"/>
          </a:xfrm>
          <a:prstGeom prst="rect">
            <a:avLst/>
          </a:prstGeom>
          <a:noFill/>
          <a:ln/>
        </p:spPr>
        <p:txBody>
          <a:bodyPr wrap="square" lIns="0" tIns="0" rIns="0" bIns="0" rtlCol="0" anchor="t"/>
          <a:lstStyle/>
          <a:p>
            <a:pPr algn="ctr" indent="0" marL="0">
              <a:buNone/>
            </a:pPr>
            <a:r>
              <a:rPr lang="en-US" sz="1400" b="1" dirty="0">
                <a:solidFill>
                  <a:schemeClr val="bg1"/>
                </a:solidFill>
              </a:rPr>
              <a:t>Crop monitoring</a:t>
            </a:r>
            <a:endParaRPr lang="en-US" sz="1400" dirty="0"/>
          </a:p>
        </p:txBody>
      </p:sp>
      <p:sp>
        <p:nvSpPr>
          <p:cNvPr id="10" name="Icon circle"/>
          <p:cNvSpPr/>
          <p:nvPr/>
        </p:nvSpPr>
        <p:spPr>
          <a:xfrm>
            <a:off x="10424160" y="960120"/>
            <a:ext cx="1005840" cy="1005840"/>
          </a:xfrm>
          <a:prstGeom prst="ellipse">
            <a:avLst/>
          </a:prstGeom>
          <a:solidFill>
            <a:schemeClr val="accent1"/>
          </a:solidFill>
          <a:ln w="12700">
            <a:solidFill>
              <a:schemeClr val="accent1"/>
            </a:solidFill>
            <a:prstDash val="solid"/>
          </a:ln>
        </p:spPr>
      </p:sp>
      <p:pic>
        <p:nvPicPr>
          <p:cNvPr id="11" name="Image 1" descr="icon">    </p:cNvPr>
          <p:cNvPicPr>
            <a:picLocks noChangeAspect="1"/>
          </p:cNvPicPr>
          <p:nvPr/>
        </p:nvPicPr>
        <p:blipFill>
          <a:blip r:embed="rId2"/>
          <a:stretch>
            <a:fillRect/>
          </a:stretch>
        </p:blipFill>
        <p:spPr>
          <a:xfrm>
            <a:off x="10645445" y="1181405"/>
            <a:ext cx="563270" cy="563270"/>
          </a:xfrm>
          <a:prstGeom prst="rect">
            <a:avLst/>
          </a:prstGeom>
        </p:spPr>
      </p:pic>
      <p:sp>
        <p:nvSpPr>
          <p:cNvPr id="12" name="Pillar label"/>
          <p:cNvSpPr txBox="1"/>
          <p:nvPr/>
        </p:nvSpPr>
        <p:spPr>
          <a:xfrm>
            <a:off x="10012680" y="2039112"/>
            <a:ext cx="1737360" cy="548640"/>
          </a:xfrm>
          <a:prstGeom prst="rect">
            <a:avLst/>
          </a:prstGeom>
          <a:noFill/>
          <a:ln/>
        </p:spPr>
        <p:txBody>
          <a:bodyPr wrap="square" lIns="0" tIns="0" rIns="0" bIns="0" rtlCol="0" anchor="t"/>
          <a:lstStyle/>
          <a:p>
            <a:pPr algn="ctr" indent="0" marL="0">
              <a:buNone/>
            </a:pPr>
            <a:r>
              <a:rPr lang="en-US" sz="1400" b="1" dirty="0">
                <a:solidFill>
                  <a:schemeClr val="bg1"/>
                </a:solidFill>
              </a:rPr>
              <a:t>Pest and disease detection</a:t>
            </a:r>
            <a:endParaRPr lang="en-US" sz="1400" dirty="0"/>
          </a:p>
        </p:txBody>
      </p:sp>
      <p:sp>
        <p:nvSpPr>
          <p:cNvPr id="13" name="Icon circle"/>
          <p:cNvSpPr/>
          <p:nvPr/>
        </p:nvSpPr>
        <p:spPr>
          <a:xfrm>
            <a:off x="8549640" y="2743200"/>
            <a:ext cx="1005840" cy="1005840"/>
          </a:xfrm>
          <a:prstGeom prst="ellipse">
            <a:avLst/>
          </a:prstGeom>
          <a:solidFill>
            <a:schemeClr val="accent1"/>
          </a:solidFill>
          <a:ln w="12700">
            <a:solidFill>
              <a:schemeClr val="accent1"/>
            </a:solidFill>
            <a:prstDash val="solid"/>
          </a:ln>
        </p:spPr>
      </p:sp>
      <p:pic>
        <p:nvPicPr>
          <p:cNvPr id="14" name="Image 2" descr="icon">    </p:cNvPr>
          <p:cNvPicPr>
            <a:picLocks noChangeAspect="1"/>
          </p:cNvPicPr>
          <p:nvPr/>
        </p:nvPicPr>
        <p:blipFill>
          <a:blip r:embed="rId3"/>
          <a:stretch>
            <a:fillRect/>
          </a:stretch>
        </p:blipFill>
        <p:spPr>
          <a:xfrm>
            <a:off x="8770925" y="2964485"/>
            <a:ext cx="563270" cy="563270"/>
          </a:xfrm>
          <a:prstGeom prst="rect">
            <a:avLst/>
          </a:prstGeom>
        </p:spPr>
      </p:pic>
      <p:sp>
        <p:nvSpPr>
          <p:cNvPr id="15" name="Pillar label"/>
          <p:cNvSpPr txBox="1"/>
          <p:nvPr/>
        </p:nvSpPr>
        <p:spPr>
          <a:xfrm>
            <a:off x="8138160" y="3822192"/>
            <a:ext cx="1737360" cy="548640"/>
          </a:xfrm>
          <a:prstGeom prst="rect">
            <a:avLst/>
          </a:prstGeom>
          <a:noFill/>
          <a:ln/>
        </p:spPr>
        <p:txBody>
          <a:bodyPr wrap="square" lIns="0" tIns="0" rIns="0" bIns="0" rtlCol="0" anchor="t"/>
          <a:lstStyle/>
          <a:p>
            <a:pPr algn="ctr" indent="0" marL="0">
              <a:buNone/>
            </a:pPr>
            <a:r>
              <a:rPr lang="en-US" sz="1400" b="1" dirty="0">
                <a:solidFill>
                  <a:schemeClr val="bg1"/>
                </a:solidFill>
              </a:rPr>
              <a:t>Yield prediction</a:t>
            </a:r>
            <a:endParaRPr lang="en-US" sz="1400" dirty="0"/>
          </a:p>
        </p:txBody>
      </p:sp>
      <p:sp>
        <p:nvSpPr>
          <p:cNvPr id="16" name="Icon circle"/>
          <p:cNvSpPr/>
          <p:nvPr/>
        </p:nvSpPr>
        <p:spPr>
          <a:xfrm>
            <a:off x="10424160" y="2743200"/>
            <a:ext cx="1005840" cy="1005840"/>
          </a:xfrm>
          <a:prstGeom prst="ellipse">
            <a:avLst/>
          </a:prstGeom>
          <a:solidFill>
            <a:schemeClr val="accent1"/>
          </a:solidFill>
          <a:ln w="12700">
            <a:solidFill>
              <a:schemeClr val="accent1"/>
            </a:solidFill>
            <a:prstDash val="solid"/>
          </a:ln>
        </p:spPr>
      </p:sp>
      <p:pic>
        <p:nvPicPr>
          <p:cNvPr id="17" name="Image 3" descr="icon">    </p:cNvPr>
          <p:cNvPicPr>
            <a:picLocks noChangeAspect="1"/>
          </p:cNvPicPr>
          <p:nvPr/>
        </p:nvPicPr>
        <p:blipFill>
          <a:blip r:embed="rId4"/>
          <a:stretch>
            <a:fillRect/>
          </a:stretch>
        </p:blipFill>
        <p:spPr>
          <a:xfrm>
            <a:off x="10645445" y="2964485"/>
            <a:ext cx="563270" cy="563270"/>
          </a:xfrm>
          <a:prstGeom prst="rect">
            <a:avLst/>
          </a:prstGeom>
        </p:spPr>
      </p:pic>
      <p:sp>
        <p:nvSpPr>
          <p:cNvPr id="18" name="Pillar label"/>
          <p:cNvSpPr txBox="1"/>
          <p:nvPr/>
        </p:nvSpPr>
        <p:spPr>
          <a:xfrm>
            <a:off x="10012680" y="3822192"/>
            <a:ext cx="1737360" cy="548640"/>
          </a:xfrm>
          <a:prstGeom prst="rect">
            <a:avLst/>
          </a:prstGeom>
          <a:noFill/>
          <a:ln/>
        </p:spPr>
        <p:txBody>
          <a:bodyPr wrap="square" lIns="0" tIns="0" rIns="0" bIns="0" rtlCol="0" anchor="t"/>
          <a:lstStyle/>
          <a:p>
            <a:pPr algn="ctr" indent="0" marL="0">
              <a:buNone/>
            </a:pPr>
            <a:r>
              <a:rPr lang="en-US" sz="1400" b="1" dirty="0">
                <a:solidFill>
                  <a:schemeClr val="bg1"/>
                </a:solidFill>
              </a:rPr>
              <a:t>Supply chain and prices</a:t>
            </a:r>
            <a:endParaRPr lang="en-US" sz="1400" dirty="0"/>
          </a:p>
        </p:txBody>
      </p:sp>
      <p:sp>
        <p:nvSpPr>
          <p:cNvPr id="19" name="Members label"/>
          <p:cNvSpPr txBox="1"/>
          <p:nvPr/>
        </p:nvSpPr>
        <p:spPr>
          <a:xfrm>
            <a:off x="640080" y="4663440"/>
            <a:ext cx="4572000" cy="292608"/>
          </a:xfrm>
          <a:prstGeom prst="rect">
            <a:avLst/>
          </a:prstGeom>
          <a:noFill/>
          <a:ln/>
        </p:spPr>
        <p:txBody>
          <a:bodyPr wrap="square" lIns="0" tIns="0" rIns="0" bIns="0" rtlCol="0" anchor="ctr"/>
          <a:lstStyle/>
          <a:p>
            <a:pPr indent="0" marL="0">
              <a:buNone/>
            </a:pPr>
            <a:r>
              <a:rPr lang="en-US" sz="1400" b="1" spc="200" kern="0" dirty="0">
                <a:solidFill>
                  <a:schemeClr val="accent2"/>
                </a:solidFill>
              </a:rPr>
              <a:t>GROUP MEMBERS</a:t>
            </a:r>
            <a:endParaRPr lang="en-US" sz="1400" dirty="0"/>
          </a:p>
        </p:txBody>
      </p:sp>
      <p:sp>
        <p:nvSpPr>
          <p:cNvPr id="20" name="Member card 1"/>
          <p:cNvSpPr/>
          <p:nvPr/>
        </p:nvSpPr>
        <p:spPr>
          <a:xfrm>
            <a:off x="640080" y="5029200"/>
            <a:ext cx="2057400" cy="1005840"/>
          </a:xfrm>
          <a:prstGeom prst="roundRect">
            <a:avLst>
              <a:gd name="adj" fmla="val 9091"/>
            </a:avLst>
          </a:prstGeom>
          <a:solidFill>
            <a:schemeClr val="bg1"/>
          </a:solidFill>
          <a:ln w="9525">
            <a:solidFill>
              <a:schemeClr val="accent6"/>
            </a:solidFill>
            <a:prstDash val="solid"/>
          </a:ln>
        </p:spPr>
      </p:sp>
      <p:sp>
        <p:nvSpPr>
          <p:cNvPr id="21" name="Member 1 name"/>
          <p:cNvSpPr txBox="1"/>
          <p:nvPr/>
        </p:nvSpPr>
        <p:spPr>
          <a:xfrm>
            <a:off x="731520" y="5029200"/>
            <a:ext cx="1874520" cy="1005840"/>
          </a:xfrm>
          <a:prstGeom prst="rect">
            <a:avLst/>
          </a:prstGeom>
          <a:noFill/>
          <a:ln/>
        </p:spPr>
        <p:txBody>
          <a:bodyPr wrap="square" lIns="0" tIns="0" rIns="0" bIns="0" rtlCol="0" anchor="ctr"/>
          <a:lstStyle/>
          <a:p>
            <a:pPr algn="ctr" indent="0" marL="0">
              <a:buNone/>
            </a:pPr>
            <a:r>
              <a:rPr lang="en-US" sz="1600" b="1" dirty="0">
                <a:solidFill>
                  <a:schemeClr val="tx2"/>
                </a:solidFill>
              </a:rPr>
              <a:t>Srinivasa Reddy</a:t>
            </a:r>
            <a:endParaRPr lang="en-US" sz="1600" dirty="0"/>
          </a:p>
        </p:txBody>
      </p:sp>
      <p:sp>
        <p:nvSpPr>
          <p:cNvPr id="22" name="Member card 2"/>
          <p:cNvSpPr/>
          <p:nvPr/>
        </p:nvSpPr>
        <p:spPr>
          <a:xfrm>
            <a:off x="2834640" y="5029200"/>
            <a:ext cx="2057400" cy="1005840"/>
          </a:xfrm>
          <a:prstGeom prst="roundRect">
            <a:avLst>
              <a:gd name="adj" fmla="val 9091"/>
            </a:avLst>
          </a:prstGeom>
          <a:solidFill>
            <a:schemeClr val="bg1"/>
          </a:solidFill>
          <a:ln w="9525">
            <a:solidFill>
              <a:schemeClr val="accent6"/>
            </a:solidFill>
            <a:prstDash val="solid"/>
          </a:ln>
        </p:spPr>
      </p:sp>
      <p:sp>
        <p:nvSpPr>
          <p:cNvPr id="23" name="Member 2 name"/>
          <p:cNvSpPr txBox="1"/>
          <p:nvPr/>
        </p:nvSpPr>
        <p:spPr>
          <a:xfrm>
            <a:off x="2926080" y="5029200"/>
            <a:ext cx="1874520" cy="1005840"/>
          </a:xfrm>
          <a:prstGeom prst="rect">
            <a:avLst/>
          </a:prstGeom>
          <a:noFill/>
          <a:ln/>
        </p:spPr>
        <p:txBody>
          <a:bodyPr wrap="square" lIns="0" tIns="0" rIns="0" bIns="0" rtlCol="0" anchor="ctr"/>
          <a:lstStyle/>
          <a:p>
            <a:pPr algn="ctr" indent="0" marL="0">
              <a:buNone/>
            </a:pPr>
            <a:r>
              <a:rPr lang="en-US" sz="1600" b="1" dirty="0">
                <a:solidFill>
                  <a:schemeClr val="tx2"/>
                </a:solidFill>
              </a:rPr>
              <a:t>Soumya Arya</a:t>
            </a:r>
            <a:endParaRPr lang="en-US" sz="1600" dirty="0"/>
          </a:p>
        </p:txBody>
      </p:sp>
      <p:sp>
        <p:nvSpPr>
          <p:cNvPr id="24" name="Member card 3"/>
          <p:cNvSpPr/>
          <p:nvPr/>
        </p:nvSpPr>
        <p:spPr>
          <a:xfrm>
            <a:off x="5029200" y="5029200"/>
            <a:ext cx="2057400" cy="1005840"/>
          </a:xfrm>
          <a:prstGeom prst="roundRect">
            <a:avLst>
              <a:gd name="adj" fmla="val 9091"/>
            </a:avLst>
          </a:prstGeom>
          <a:solidFill>
            <a:schemeClr val="bg1"/>
          </a:solidFill>
          <a:ln w="9525">
            <a:solidFill>
              <a:schemeClr val="accent6"/>
            </a:solidFill>
            <a:prstDash val="solid"/>
          </a:ln>
        </p:spPr>
      </p:sp>
      <p:sp>
        <p:nvSpPr>
          <p:cNvPr id="25" name="Member 3 name"/>
          <p:cNvSpPr txBox="1"/>
          <p:nvPr/>
        </p:nvSpPr>
        <p:spPr>
          <a:xfrm>
            <a:off x="5120640" y="5029200"/>
            <a:ext cx="1874520" cy="1005840"/>
          </a:xfrm>
          <a:prstGeom prst="rect">
            <a:avLst/>
          </a:prstGeom>
          <a:noFill/>
          <a:ln/>
        </p:spPr>
        <p:txBody>
          <a:bodyPr wrap="square" lIns="0" tIns="0" rIns="0" bIns="0" rtlCol="0" anchor="ctr"/>
          <a:lstStyle/>
          <a:p>
            <a:pPr algn="ctr" indent="0" marL="0">
              <a:buNone/>
            </a:pPr>
            <a:r>
              <a:rPr lang="en-US" sz="1600" b="1" dirty="0">
                <a:solidFill>
                  <a:schemeClr val="tx2"/>
                </a:solidFill>
              </a:rPr>
              <a:t>Samkit Jain</a:t>
            </a:r>
            <a:endParaRPr lang="en-US" sz="1600" dirty="0"/>
          </a:p>
        </p:txBody>
      </p:sp>
      <p:sp>
        <p:nvSpPr>
          <p:cNvPr id="26" name="Member card 4"/>
          <p:cNvSpPr/>
          <p:nvPr/>
        </p:nvSpPr>
        <p:spPr>
          <a:xfrm>
            <a:off x="7223760" y="5029200"/>
            <a:ext cx="2057400" cy="1005840"/>
          </a:xfrm>
          <a:prstGeom prst="roundRect">
            <a:avLst>
              <a:gd name="adj" fmla="val 9091"/>
            </a:avLst>
          </a:prstGeom>
          <a:solidFill>
            <a:schemeClr val="bg1"/>
          </a:solidFill>
          <a:ln w="9525">
            <a:solidFill>
              <a:schemeClr val="accent6"/>
            </a:solidFill>
            <a:prstDash val="solid"/>
          </a:ln>
        </p:spPr>
      </p:sp>
      <p:sp>
        <p:nvSpPr>
          <p:cNvPr id="27" name="Member 4 name"/>
          <p:cNvSpPr txBox="1"/>
          <p:nvPr/>
        </p:nvSpPr>
        <p:spPr>
          <a:xfrm>
            <a:off x="7315200" y="5029200"/>
            <a:ext cx="1874520" cy="1005840"/>
          </a:xfrm>
          <a:prstGeom prst="rect">
            <a:avLst/>
          </a:prstGeom>
          <a:noFill/>
          <a:ln/>
        </p:spPr>
        <p:txBody>
          <a:bodyPr wrap="square" lIns="0" tIns="0" rIns="0" bIns="0" rtlCol="0" anchor="ctr"/>
          <a:lstStyle/>
          <a:p>
            <a:pPr algn="ctr" indent="0" marL="0">
              <a:buNone/>
            </a:pPr>
            <a:r>
              <a:rPr lang="en-US" sz="1600" b="1" dirty="0">
                <a:solidFill>
                  <a:schemeClr val="tx2"/>
                </a:solidFill>
              </a:rPr>
              <a:t>Rushi Anilkumar</a:t>
            </a:r>
            <a:endParaRPr lang="en-US" sz="1600" dirty="0"/>
          </a:p>
        </p:txBody>
      </p:sp>
      <p:sp>
        <p:nvSpPr>
          <p:cNvPr id="28" name="Member card 5"/>
          <p:cNvSpPr/>
          <p:nvPr/>
        </p:nvSpPr>
        <p:spPr>
          <a:xfrm>
            <a:off x="9418320" y="5029200"/>
            <a:ext cx="2057400" cy="1005840"/>
          </a:xfrm>
          <a:prstGeom prst="roundRect">
            <a:avLst>
              <a:gd name="adj" fmla="val 9091"/>
            </a:avLst>
          </a:prstGeom>
          <a:solidFill>
            <a:schemeClr val="bg1"/>
          </a:solidFill>
          <a:ln w="9525">
            <a:solidFill>
              <a:schemeClr val="accent6"/>
            </a:solidFill>
            <a:prstDash val="solid"/>
          </a:ln>
        </p:spPr>
      </p:sp>
      <p:sp>
        <p:nvSpPr>
          <p:cNvPr id="29" name="Member 5 name"/>
          <p:cNvSpPr txBox="1"/>
          <p:nvPr/>
        </p:nvSpPr>
        <p:spPr>
          <a:xfrm>
            <a:off x="9509760" y="5029200"/>
            <a:ext cx="1874520" cy="1005840"/>
          </a:xfrm>
          <a:prstGeom prst="rect">
            <a:avLst/>
          </a:prstGeom>
          <a:noFill/>
          <a:ln/>
        </p:spPr>
        <p:txBody>
          <a:bodyPr wrap="square" lIns="0" tIns="0" rIns="0" bIns="0" rtlCol="0" anchor="ctr"/>
          <a:lstStyle/>
          <a:p>
            <a:pPr algn="ctr" indent="0" marL="0">
              <a:buNone/>
            </a:pPr>
            <a:r>
              <a:rPr lang="en-US" sz="1600" b="1" dirty="0">
                <a:solidFill>
                  <a:schemeClr val="tx2"/>
                </a:solidFill>
              </a:rPr>
              <a:t>Sumant Kumar</a:t>
            </a:r>
            <a:endParaRPr lang="en-US" sz="16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0D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 title"/>
          <p:cNvSpPr txBox="1"/>
          <p:nvPr/>
        </p:nvSpPr>
        <p:spPr>
          <a:xfrm>
            <a:off x="548640" y="320040"/>
            <a:ext cx="11091672" cy="640080"/>
          </a:xfrm>
          <a:prstGeom prst="rect">
            <a:avLst/>
          </a:prstGeom>
          <a:noFill/>
          <a:ln/>
        </p:spPr>
        <p:txBody>
          <a:bodyPr wrap="square" lIns="0" tIns="0" rIns="0" bIns="0" rtlCol="0" anchor="ctr">
            <a:normAutofit/>
          </a:bodyPr>
          <a:lstStyle/>
          <a:p>
            <a:pPr algn="l" indent="0" marL="0">
              <a:buNone/>
            </a:pPr>
            <a:r>
              <a:rPr lang="en-US" sz="2800" b="1" dirty="0">
                <a:solidFill>
                  <a:schemeClr val="tx2"/>
                </a:solidFill>
              </a:rPr>
              <a:t>Why farming matters, and why farmers are struggling</a:t>
            </a:r>
            <a:endParaRPr lang="en-US" sz="2800" dirty="0"/>
          </a:p>
        </p:txBody>
      </p:sp>
      <p:sp>
        <p:nvSpPr>
          <p:cNvPr id="3" name="Subtitle"/>
          <p:cNvSpPr txBox="1"/>
          <p:nvPr/>
        </p:nvSpPr>
        <p:spPr>
          <a:xfrm>
            <a:off x="548640" y="987552"/>
            <a:ext cx="11091672" cy="365760"/>
          </a:xfrm>
          <a:prstGeom prst="rect">
            <a:avLst/>
          </a:prstGeom>
          <a:noFill/>
          <a:ln/>
        </p:spPr>
        <p:txBody>
          <a:bodyPr wrap="square" lIns="0" tIns="0" rIns="0" bIns="0" rtlCol="0" anchor="t"/>
          <a:lstStyle/>
          <a:p>
            <a:pPr algn="l" indent="0" marL="0">
              <a:buNone/>
            </a:pPr>
            <a:r>
              <a:rPr lang="en-US" sz="1600" dirty="0">
                <a:solidFill>
                  <a:srgbClr val="5E6B63"/>
                </a:solidFill>
              </a:rPr>
              <a:t>Farming employs nearly half of India's workers, yet it produces under a fifth of the output and farm households live on thin margins.</a:t>
            </a:r>
            <a:endParaRPr lang="en-US" sz="1600" dirty="0"/>
          </a:p>
        </p:txBody>
      </p:sp>
      <p:sp>
        <p:nvSpPr>
          <p:cNvPr id="4" name="Icon circle"/>
          <p:cNvSpPr/>
          <p:nvPr/>
        </p:nvSpPr>
        <p:spPr>
          <a:xfrm>
            <a:off x="548640" y="1600200"/>
            <a:ext cx="420624" cy="420624"/>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641177" y="1692737"/>
            <a:ext cx="235549" cy="235549"/>
          </a:xfrm>
          <a:prstGeom prst="rect">
            <a:avLst/>
          </a:prstGeom>
        </p:spPr>
      </p:pic>
      <p:sp>
        <p:nvSpPr>
          <p:cNvPr id="6" name="Card header"/>
          <p:cNvSpPr txBox="1"/>
          <p:nvPr/>
        </p:nvSpPr>
        <p:spPr>
          <a:xfrm>
            <a:off x="1097280" y="1581912"/>
            <a:ext cx="3383280" cy="457200"/>
          </a:xfrm>
          <a:prstGeom prst="rect">
            <a:avLst/>
          </a:prstGeom>
          <a:noFill/>
          <a:ln/>
        </p:spPr>
        <p:txBody>
          <a:bodyPr wrap="square" lIns="0" tIns="0" rIns="0" bIns="0" rtlCol="0" anchor="ctr"/>
          <a:lstStyle/>
          <a:p>
            <a:pPr indent="0" marL="0">
              <a:buNone/>
            </a:pPr>
            <a:r>
              <a:rPr lang="en-US" sz="1700" b="1" dirty="0">
                <a:solidFill>
                  <a:schemeClr val="tx2"/>
                </a:solidFill>
              </a:rPr>
              <a:t>Why farming matters</a:t>
            </a:r>
            <a:endParaRPr lang="en-US" sz="1700" dirty="0"/>
          </a:p>
        </p:txBody>
      </p:sp>
      <p:sp>
        <p:nvSpPr>
          <p:cNvPr id="7" name="Chart card"/>
          <p:cNvSpPr/>
          <p:nvPr/>
        </p:nvSpPr>
        <p:spPr>
          <a:xfrm>
            <a:off x="548640" y="2148840"/>
            <a:ext cx="3931920" cy="2240280"/>
          </a:xfrm>
          <a:prstGeom prst="roundRect">
            <a:avLst>
              <a:gd name="adj" fmla="val 4082"/>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graphicFrame>
        <p:nvGraphicFramePr>
          <p:cNvPr id="8" name="Chart 0" descr=""/>
          <p:cNvGraphicFramePr/>
          <p:nvPr/>
        </p:nvGraphicFramePr>
        <p:xfrm>
          <a:off x="640080" y="2194560"/>
          <a:ext cx="3749040" cy="2148840"/>
        </p:xfrm>
        <a:graphic xmlns:a="http://schemas.openxmlformats.org/drawingml/2006/main">
          <a:graphicData uri="http://schemas.openxmlformats.org/drawingml/2006/chart">
            <c:chart xmlns:c="http://schemas.openxmlformats.org/drawingml/2006/chart" r:id="rId2"/>
          </a:graphicData>
        </a:graphic>
      </p:graphicFrame>
      <p:sp>
        <p:nvSpPr>
          <p:cNvPr id="9" name="Stat card 1"/>
          <p:cNvSpPr/>
          <p:nvPr/>
        </p:nvSpPr>
        <p:spPr>
          <a:xfrm>
            <a:off x="548640" y="4526280"/>
            <a:ext cx="1874520" cy="1508760"/>
          </a:xfrm>
          <a:prstGeom prst="roundRect">
            <a:avLst>
              <a:gd name="adj" fmla="val 6061"/>
            </a:avLst>
          </a:prstGeom>
          <a:solidFill>
            <a:schemeClr val="bg2"/>
          </a:solidFill>
          <a:ln w="9525">
            <a:solidFill>
              <a:schemeClr val="accent6"/>
            </a:solidFill>
            <a:prstDash val="solid"/>
          </a:ln>
        </p:spPr>
      </p:sp>
      <p:sp>
        <p:nvSpPr>
          <p:cNvPr id="10" name="Stat 1 value"/>
          <p:cNvSpPr txBox="1"/>
          <p:nvPr/>
        </p:nvSpPr>
        <p:spPr>
          <a:xfrm>
            <a:off x="548640" y="4572000"/>
            <a:ext cx="1874520" cy="548640"/>
          </a:xfrm>
          <a:prstGeom prst="rect">
            <a:avLst/>
          </a:prstGeom>
          <a:noFill/>
          <a:ln/>
        </p:spPr>
        <p:txBody>
          <a:bodyPr wrap="square" lIns="0" tIns="0" rIns="0" bIns="0" rtlCol="0" anchor="ctr"/>
          <a:lstStyle/>
          <a:p>
            <a:pPr algn="ctr" indent="0" marL="0">
              <a:buNone/>
            </a:pPr>
            <a:r>
              <a:rPr lang="en-US" sz="3200" b="1" dirty="0">
                <a:solidFill>
                  <a:schemeClr val="accent1"/>
                </a:solidFill>
              </a:rPr>
              <a:t>86%</a:t>
            </a:r>
            <a:endParaRPr lang="en-US" sz="3200" dirty="0"/>
          </a:p>
        </p:txBody>
      </p:sp>
      <p:sp>
        <p:nvSpPr>
          <p:cNvPr id="11" name="Stat 1 label"/>
          <p:cNvSpPr txBox="1"/>
          <p:nvPr/>
        </p:nvSpPr>
        <p:spPr>
          <a:xfrm>
            <a:off x="640080" y="5120640"/>
            <a:ext cx="1691640" cy="868680"/>
          </a:xfrm>
          <a:prstGeom prst="rect">
            <a:avLst/>
          </a:prstGeom>
          <a:noFill/>
          <a:ln/>
        </p:spPr>
        <p:txBody>
          <a:bodyPr wrap="square" lIns="0" tIns="0" rIns="0" bIns="0" rtlCol="0" anchor="t"/>
          <a:lstStyle/>
          <a:p>
            <a:pPr algn="ctr" indent="0" marL="0">
              <a:buNone/>
            </a:pPr>
            <a:r>
              <a:rPr lang="en-US" sz="1400" dirty="0">
                <a:solidFill>
                  <a:schemeClr val="tx1"/>
                </a:solidFill>
              </a:rPr>
              <a:t>of farm holdings are under 2 hectares</a:t>
            </a:r>
            <a:endParaRPr lang="en-US" sz="1400" dirty="0"/>
          </a:p>
        </p:txBody>
      </p:sp>
      <p:sp>
        <p:nvSpPr>
          <p:cNvPr id="12" name="Stat card 2"/>
          <p:cNvSpPr/>
          <p:nvPr/>
        </p:nvSpPr>
        <p:spPr>
          <a:xfrm>
            <a:off x="2606040" y="4526280"/>
            <a:ext cx="1874520" cy="1508760"/>
          </a:xfrm>
          <a:prstGeom prst="roundRect">
            <a:avLst>
              <a:gd name="adj" fmla="val 6061"/>
            </a:avLst>
          </a:prstGeom>
          <a:solidFill>
            <a:schemeClr val="bg2"/>
          </a:solidFill>
          <a:ln w="9525">
            <a:solidFill>
              <a:schemeClr val="accent6"/>
            </a:solidFill>
            <a:prstDash val="solid"/>
          </a:ln>
        </p:spPr>
      </p:sp>
      <p:sp>
        <p:nvSpPr>
          <p:cNvPr id="13" name="Stat 2 value"/>
          <p:cNvSpPr txBox="1"/>
          <p:nvPr/>
        </p:nvSpPr>
        <p:spPr>
          <a:xfrm>
            <a:off x="2606040" y="4572000"/>
            <a:ext cx="1874520" cy="548640"/>
          </a:xfrm>
          <a:prstGeom prst="rect">
            <a:avLst/>
          </a:prstGeom>
          <a:noFill/>
          <a:ln/>
        </p:spPr>
        <p:txBody>
          <a:bodyPr wrap="square" lIns="0" tIns="0" rIns="0" bIns="0" rtlCol="0" anchor="ctr"/>
          <a:lstStyle/>
          <a:p>
            <a:pPr algn="ctr" indent="0" marL="0">
              <a:buNone/>
            </a:pPr>
            <a:r>
              <a:rPr lang="en-US" sz="2800" b="1" dirty="0">
                <a:solidFill>
                  <a:schemeClr val="accent1"/>
                </a:solidFill>
              </a:rPr>
              <a:t>₹13,661</a:t>
            </a:r>
            <a:endParaRPr lang="en-US" sz="2800" dirty="0"/>
          </a:p>
        </p:txBody>
      </p:sp>
      <p:sp>
        <p:nvSpPr>
          <p:cNvPr id="14" name="Stat 2 label"/>
          <p:cNvSpPr txBox="1"/>
          <p:nvPr/>
        </p:nvSpPr>
        <p:spPr>
          <a:xfrm>
            <a:off x="2697480" y="5120640"/>
            <a:ext cx="1691640" cy="868680"/>
          </a:xfrm>
          <a:prstGeom prst="rect">
            <a:avLst/>
          </a:prstGeom>
          <a:noFill/>
          <a:ln/>
        </p:spPr>
        <p:txBody>
          <a:bodyPr wrap="square" lIns="0" tIns="0" rIns="0" bIns="0" rtlCol="0" anchor="t"/>
          <a:lstStyle/>
          <a:p>
            <a:pPr algn="ctr" indent="0" marL="0">
              <a:buNone/>
            </a:pPr>
            <a:r>
              <a:rPr lang="en-US" sz="1400" dirty="0">
                <a:solidFill>
                  <a:schemeClr val="tx1"/>
                </a:solidFill>
              </a:rPr>
              <a:t>monthly income of a farm household; farming gives about a third</a:t>
            </a:r>
            <a:endParaRPr lang="en-US" sz="1400" dirty="0"/>
          </a:p>
        </p:txBody>
      </p:sp>
      <p:sp>
        <p:nvSpPr>
          <p:cNvPr id="15" name="Icon circle"/>
          <p:cNvSpPr/>
          <p:nvPr/>
        </p:nvSpPr>
        <p:spPr>
          <a:xfrm>
            <a:off x="4754880" y="1600200"/>
            <a:ext cx="420624" cy="420624"/>
          </a:xfrm>
          <a:prstGeom prst="ellipse">
            <a:avLst/>
          </a:prstGeom>
          <a:solidFill>
            <a:schemeClr val="accent5"/>
          </a:solidFill>
          <a:ln w="12700">
            <a:solidFill>
              <a:schemeClr val="accent5"/>
            </a:solidFill>
            <a:prstDash val="solid"/>
          </a:ln>
        </p:spPr>
      </p:sp>
      <p:pic>
        <p:nvPicPr>
          <p:cNvPr id="16" name="Image 1" descr="icon">    </p:cNvPr>
          <p:cNvPicPr>
            <a:picLocks noChangeAspect="1"/>
          </p:cNvPicPr>
          <p:nvPr/>
        </p:nvPicPr>
        <p:blipFill>
          <a:blip r:embed="rId3"/>
          <a:stretch>
            <a:fillRect/>
          </a:stretch>
        </p:blipFill>
        <p:spPr>
          <a:xfrm>
            <a:off x="4847417" y="1692737"/>
            <a:ext cx="235549" cy="235549"/>
          </a:xfrm>
          <a:prstGeom prst="rect">
            <a:avLst/>
          </a:prstGeom>
        </p:spPr>
      </p:pic>
      <p:sp>
        <p:nvSpPr>
          <p:cNvPr id="17" name="Card header"/>
          <p:cNvSpPr txBox="1"/>
          <p:nvPr/>
        </p:nvSpPr>
        <p:spPr>
          <a:xfrm>
            <a:off x="5303520" y="1581912"/>
            <a:ext cx="6309360" cy="457200"/>
          </a:xfrm>
          <a:prstGeom prst="rect">
            <a:avLst/>
          </a:prstGeom>
          <a:noFill/>
          <a:ln/>
        </p:spPr>
        <p:txBody>
          <a:bodyPr wrap="square" lIns="0" tIns="0" rIns="0" bIns="0" rtlCol="0" anchor="ctr"/>
          <a:lstStyle/>
          <a:p>
            <a:pPr indent="0" marL="0">
              <a:buNone/>
            </a:pPr>
            <a:r>
              <a:rPr lang="en-US" sz="1700" b="1" dirty="0">
                <a:solidFill>
                  <a:schemeClr val="tx2"/>
                </a:solidFill>
              </a:rPr>
              <a:t>Four problems holding incomes down</a:t>
            </a:r>
            <a:endParaRPr lang="en-US" sz="1700" dirty="0"/>
          </a:p>
        </p:txBody>
      </p:sp>
      <p:sp>
        <p:nvSpPr>
          <p:cNvPr id="18" name="Problem card 1"/>
          <p:cNvSpPr/>
          <p:nvPr/>
        </p:nvSpPr>
        <p:spPr>
          <a:xfrm>
            <a:off x="4754880" y="2148840"/>
            <a:ext cx="3337560" cy="1463040"/>
          </a:xfrm>
          <a:prstGeom prst="roundRect">
            <a:avLst>
              <a:gd name="adj" fmla="val 6250"/>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19" name="Icon circle"/>
          <p:cNvSpPr/>
          <p:nvPr/>
        </p:nvSpPr>
        <p:spPr>
          <a:xfrm>
            <a:off x="4919472" y="2295144"/>
            <a:ext cx="384048" cy="384048"/>
          </a:xfrm>
          <a:prstGeom prst="ellipse">
            <a:avLst/>
          </a:prstGeom>
          <a:solidFill>
            <a:schemeClr val="accent5"/>
          </a:solidFill>
          <a:ln w="12700">
            <a:solidFill>
              <a:schemeClr val="accent5"/>
            </a:solidFill>
            <a:prstDash val="solid"/>
          </a:ln>
        </p:spPr>
      </p:sp>
      <p:pic>
        <p:nvPicPr>
          <p:cNvPr id="20" name="Image 2" descr="icon">    </p:cNvPr>
          <p:cNvPicPr>
            <a:picLocks noChangeAspect="1"/>
          </p:cNvPicPr>
          <p:nvPr/>
        </p:nvPicPr>
        <p:blipFill>
          <a:blip r:embed="rId4"/>
          <a:stretch>
            <a:fillRect/>
          </a:stretch>
        </p:blipFill>
        <p:spPr>
          <a:xfrm>
            <a:off x="5003963" y="2379635"/>
            <a:ext cx="215067" cy="215067"/>
          </a:xfrm>
          <a:prstGeom prst="rect">
            <a:avLst/>
          </a:prstGeom>
        </p:spPr>
      </p:pic>
      <p:sp>
        <p:nvSpPr>
          <p:cNvPr id="21" name="Problem title"/>
          <p:cNvSpPr txBox="1"/>
          <p:nvPr/>
        </p:nvSpPr>
        <p:spPr>
          <a:xfrm>
            <a:off x="5413248" y="2276856"/>
            <a:ext cx="2560320" cy="420624"/>
          </a:xfrm>
          <a:prstGeom prst="rect">
            <a:avLst/>
          </a:prstGeom>
          <a:noFill/>
          <a:ln/>
        </p:spPr>
        <p:txBody>
          <a:bodyPr wrap="square" lIns="0" tIns="0" rIns="0" bIns="0" rtlCol="0" anchor="ctr"/>
          <a:lstStyle/>
          <a:p>
            <a:pPr indent="0" marL="0">
              <a:buNone/>
            </a:pPr>
            <a:r>
              <a:rPr lang="en-US" sz="1600" b="1" dirty="0">
                <a:solidFill>
                  <a:schemeClr val="tx2"/>
                </a:solidFill>
              </a:rPr>
              <a:t>Unpredictable weather</a:t>
            </a:r>
            <a:endParaRPr lang="en-US" sz="1600" dirty="0"/>
          </a:p>
        </p:txBody>
      </p:sp>
      <p:sp>
        <p:nvSpPr>
          <p:cNvPr id="22" name="Problem text"/>
          <p:cNvSpPr txBox="1"/>
          <p:nvPr/>
        </p:nvSpPr>
        <p:spPr>
          <a:xfrm>
            <a:off x="4919472" y="2770632"/>
            <a:ext cx="3017520" cy="868680"/>
          </a:xfrm>
          <a:prstGeom prst="rect">
            <a:avLst/>
          </a:prstGeom>
          <a:noFill/>
          <a:ln/>
        </p:spPr>
        <p:txBody>
          <a:bodyPr wrap="square" lIns="0" tIns="0" rIns="0" bIns="0" rtlCol="0" anchor="t"/>
          <a:lstStyle/>
          <a:p>
            <a:pPr indent="0" marL="0">
              <a:buNone/>
            </a:pPr>
            <a:r>
              <a:rPr lang="en-US" sz="1400" dirty="0">
                <a:solidFill>
                  <a:schemeClr val="tx1"/>
                </a:solidFill>
              </a:rPr>
              <a:t>The March 2022 heat wave cut wheat yields by 15 to 20% in affected areas.</a:t>
            </a:r>
            <a:endParaRPr lang="en-US" sz="1400" dirty="0"/>
          </a:p>
        </p:txBody>
      </p:sp>
      <p:sp>
        <p:nvSpPr>
          <p:cNvPr id="23" name="Problem card 2"/>
          <p:cNvSpPr/>
          <p:nvPr/>
        </p:nvSpPr>
        <p:spPr>
          <a:xfrm>
            <a:off x="8275320" y="2148840"/>
            <a:ext cx="3337560" cy="1463040"/>
          </a:xfrm>
          <a:prstGeom prst="roundRect">
            <a:avLst>
              <a:gd name="adj" fmla="val 6250"/>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24" name="Icon circle"/>
          <p:cNvSpPr/>
          <p:nvPr/>
        </p:nvSpPr>
        <p:spPr>
          <a:xfrm>
            <a:off x="8439912" y="2295144"/>
            <a:ext cx="384048" cy="384048"/>
          </a:xfrm>
          <a:prstGeom prst="ellipse">
            <a:avLst/>
          </a:prstGeom>
          <a:solidFill>
            <a:schemeClr val="accent5"/>
          </a:solidFill>
          <a:ln w="12700">
            <a:solidFill>
              <a:schemeClr val="accent5"/>
            </a:solidFill>
            <a:prstDash val="solid"/>
          </a:ln>
        </p:spPr>
      </p:sp>
      <p:pic>
        <p:nvPicPr>
          <p:cNvPr id="25" name="Image 3" descr="icon">    </p:cNvPr>
          <p:cNvPicPr>
            <a:picLocks noChangeAspect="1"/>
          </p:cNvPicPr>
          <p:nvPr/>
        </p:nvPicPr>
        <p:blipFill>
          <a:blip r:embed="rId5"/>
          <a:stretch>
            <a:fillRect/>
          </a:stretch>
        </p:blipFill>
        <p:spPr>
          <a:xfrm>
            <a:off x="8524403" y="2379635"/>
            <a:ext cx="215067" cy="215067"/>
          </a:xfrm>
          <a:prstGeom prst="rect">
            <a:avLst/>
          </a:prstGeom>
        </p:spPr>
      </p:pic>
      <p:sp>
        <p:nvSpPr>
          <p:cNvPr id="26" name="Problem title"/>
          <p:cNvSpPr txBox="1"/>
          <p:nvPr/>
        </p:nvSpPr>
        <p:spPr>
          <a:xfrm>
            <a:off x="8933688" y="2276856"/>
            <a:ext cx="2560320" cy="420624"/>
          </a:xfrm>
          <a:prstGeom prst="rect">
            <a:avLst/>
          </a:prstGeom>
          <a:noFill/>
          <a:ln/>
        </p:spPr>
        <p:txBody>
          <a:bodyPr wrap="square" lIns="0" tIns="0" rIns="0" bIns="0" rtlCol="0" anchor="ctr"/>
          <a:lstStyle/>
          <a:p>
            <a:pPr indent="0" marL="0">
              <a:buNone/>
            </a:pPr>
            <a:r>
              <a:rPr lang="en-US" sz="1600" b="1" dirty="0">
                <a:solidFill>
                  <a:schemeClr val="tx2"/>
                </a:solidFill>
              </a:rPr>
              <a:t>Pests and disease</a:t>
            </a:r>
            <a:endParaRPr lang="en-US" sz="1600" dirty="0"/>
          </a:p>
        </p:txBody>
      </p:sp>
      <p:sp>
        <p:nvSpPr>
          <p:cNvPr id="27" name="Problem text"/>
          <p:cNvSpPr txBox="1"/>
          <p:nvPr/>
        </p:nvSpPr>
        <p:spPr>
          <a:xfrm>
            <a:off x="8439912" y="2770632"/>
            <a:ext cx="3017520" cy="868680"/>
          </a:xfrm>
          <a:prstGeom prst="rect">
            <a:avLst/>
          </a:prstGeom>
          <a:noFill/>
          <a:ln/>
        </p:spPr>
        <p:txBody>
          <a:bodyPr wrap="square" lIns="0" tIns="0" rIns="0" bIns="0" rtlCol="0" anchor="t"/>
          <a:lstStyle/>
          <a:p>
            <a:pPr indent="0" marL="0">
              <a:buNone/>
            </a:pPr>
            <a:r>
              <a:rPr lang="en-US" sz="1400" dirty="0">
                <a:solidFill>
                  <a:schemeClr val="tx1"/>
                </a:solidFill>
              </a:rPr>
              <a:t>Up to 40% of global crop production is lost to pests every year.</a:t>
            </a:r>
            <a:endParaRPr lang="en-US" sz="1400" dirty="0"/>
          </a:p>
        </p:txBody>
      </p:sp>
      <p:sp>
        <p:nvSpPr>
          <p:cNvPr id="28" name="Problem card 3"/>
          <p:cNvSpPr/>
          <p:nvPr/>
        </p:nvSpPr>
        <p:spPr>
          <a:xfrm>
            <a:off x="4754880" y="3721608"/>
            <a:ext cx="3337560" cy="1463040"/>
          </a:xfrm>
          <a:prstGeom prst="roundRect">
            <a:avLst>
              <a:gd name="adj" fmla="val 6250"/>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29" name="Icon circle"/>
          <p:cNvSpPr/>
          <p:nvPr/>
        </p:nvSpPr>
        <p:spPr>
          <a:xfrm>
            <a:off x="4919472" y="3867912"/>
            <a:ext cx="384048" cy="384048"/>
          </a:xfrm>
          <a:prstGeom prst="ellipse">
            <a:avLst/>
          </a:prstGeom>
          <a:solidFill>
            <a:schemeClr val="accent5"/>
          </a:solidFill>
          <a:ln w="12700">
            <a:solidFill>
              <a:schemeClr val="accent5"/>
            </a:solidFill>
            <a:prstDash val="solid"/>
          </a:ln>
        </p:spPr>
      </p:sp>
      <p:pic>
        <p:nvPicPr>
          <p:cNvPr id="30" name="Image 4" descr="icon">    </p:cNvPr>
          <p:cNvPicPr>
            <a:picLocks noChangeAspect="1"/>
          </p:cNvPicPr>
          <p:nvPr/>
        </p:nvPicPr>
        <p:blipFill>
          <a:blip r:embed="rId6"/>
          <a:stretch>
            <a:fillRect/>
          </a:stretch>
        </p:blipFill>
        <p:spPr>
          <a:xfrm>
            <a:off x="5003963" y="3952403"/>
            <a:ext cx="215067" cy="215067"/>
          </a:xfrm>
          <a:prstGeom prst="rect">
            <a:avLst/>
          </a:prstGeom>
        </p:spPr>
      </p:pic>
      <p:sp>
        <p:nvSpPr>
          <p:cNvPr id="31" name="Problem title"/>
          <p:cNvSpPr txBox="1"/>
          <p:nvPr/>
        </p:nvSpPr>
        <p:spPr>
          <a:xfrm>
            <a:off x="5413248" y="3849624"/>
            <a:ext cx="2560320" cy="420624"/>
          </a:xfrm>
          <a:prstGeom prst="rect">
            <a:avLst/>
          </a:prstGeom>
          <a:noFill/>
          <a:ln/>
        </p:spPr>
        <p:txBody>
          <a:bodyPr wrap="square" lIns="0" tIns="0" rIns="0" bIns="0" rtlCol="0" anchor="ctr"/>
          <a:lstStyle/>
          <a:p>
            <a:pPr indent="0" marL="0">
              <a:buNone/>
            </a:pPr>
            <a:r>
              <a:rPr lang="en-US" sz="1600" b="1" dirty="0">
                <a:solidFill>
                  <a:schemeClr val="tx2"/>
                </a:solidFill>
              </a:rPr>
              <a:t>Low and uncertain yields</a:t>
            </a:r>
            <a:endParaRPr lang="en-US" sz="1600" dirty="0"/>
          </a:p>
        </p:txBody>
      </p:sp>
      <p:sp>
        <p:nvSpPr>
          <p:cNvPr id="32" name="Problem text"/>
          <p:cNvSpPr txBox="1"/>
          <p:nvPr/>
        </p:nvSpPr>
        <p:spPr>
          <a:xfrm>
            <a:off x="4919472" y="4343400"/>
            <a:ext cx="3017520" cy="868680"/>
          </a:xfrm>
          <a:prstGeom prst="rect">
            <a:avLst/>
          </a:prstGeom>
          <a:noFill/>
          <a:ln/>
        </p:spPr>
        <p:txBody>
          <a:bodyPr wrap="square" lIns="0" tIns="0" rIns="0" bIns="0" rtlCol="0" anchor="t"/>
          <a:lstStyle/>
          <a:p>
            <a:pPr indent="0" marL="0">
              <a:buNone/>
            </a:pPr>
            <a:r>
              <a:rPr lang="en-US" sz="1400" dirty="0">
                <a:solidFill>
                  <a:schemeClr val="tx1"/>
                </a:solidFill>
              </a:rPr>
              <a:t>Small plots and limited advice make input decisions hard to get right.</a:t>
            </a:r>
            <a:endParaRPr lang="en-US" sz="1400" dirty="0"/>
          </a:p>
        </p:txBody>
      </p:sp>
      <p:sp>
        <p:nvSpPr>
          <p:cNvPr id="33" name="Problem card 4"/>
          <p:cNvSpPr/>
          <p:nvPr/>
        </p:nvSpPr>
        <p:spPr>
          <a:xfrm>
            <a:off x="8275320" y="3721608"/>
            <a:ext cx="3337560" cy="1463040"/>
          </a:xfrm>
          <a:prstGeom prst="roundRect">
            <a:avLst>
              <a:gd name="adj" fmla="val 6250"/>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34" name="Icon circle"/>
          <p:cNvSpPr/>
          <p:nvPr/>
        </p:nvSpPr>
        <p:spPr>
          <a:xfrm>
            <a:off x="8439912" y="3867912"/>
            <a:ext cx="384048" cy="384048"/>
          </a:xfrm>
          <a:prstGeom prst="ellipse">
            <a:avLst/>
          </a:prstGeom>
          <a:solidFill>
            <a:schemeClr val="accent5"/>
          </a:solidFill>
          <a:ln w="12700">
            <a:solidFill>
              <a:schemeClr val="accent5"/>
            </a:solidFill>
            <a:prstDash val="solid"/>
          </a:ln>
        </p:spPr>
      </p:sp>
      <p:pic>
        <p:nvPicPr>
          <p:cNvPr id="35" name="Image 5" descr="icon">    </p:cNvPr>
          <p:cNvPicPr>
            <a:picLocks noChangeAspect="1"/>
          </p:cNvPicPr>
          <p:nvPr/>
        </p:nvPicPr>
        <p:blipFill>
          <a:blip r:embed="rId7"/>
          <a:stretch>
            <a:fillRect/>
          </a:stretch>
        </p:blipFill>
        <p:spPr>
          <a:xfrm>
            <a:off x="8524403" y="3952403"/>
            <a:ext cx="215067" cy="215067"/>
          </a:xfrm>
          <a:prstGeom prst="rect">
            <a:avLst/>
          </a:prstGeom>
        </p:spPr>
      </p:pic>
      <p:sp>
        <p:nvSpPr>
          <p:cNvPr id="36" name="Problem title"/>
          <p:cNvSpPr txBox="1"/>
          <p:nvPr/>
        </p:nvSpPr>
        <p:spPr>
          <a:xfrm>
            <a:off x="8933688" y="3849624"/>
            <a:ext cx="2560320" cy="420624"/>
          </a:xfrm>
          <a:prstGeom prst="rect">
            <a:avLst/>
          </a:prstGeom>
          <a:noFill/>
          <a:ln/>
        </p:spPr>
        <p:txBody>
          <a:bodyPr wrap="square" lIns="0" tIns="0" rIns="0" bIns="0" rtlCol="0" anchor="ctr"/>
          <a:lstStyle/>
          <a:p>
            <a:pPr indent="0" marL="0">
              <a:buNone/>
            </a:pPr>
            <a:r>
              <a:rPr lang="en-US" sz="1600" b="1" dirty="0">
                <a:solidFill>
                  <a:schemeClr val="tx2"/>
                </a:solidFill>
              </a:rPr>
              <a:t>Weak markets</a:t>
            </a:r>
            <a:endParaRPr lang="en-US" sz="1600" dirty="0"/>
          </a:p>
        </p:txBody>
      </p:sp>
      <p:sp>
        <p:nvSpPr>
          <p:cNvPr id="37" name="Problem text"/>
          <p:cNvSpPr txBox="1"/>
          <p:nvPr/>
        </p:nvSpPr>
        <p:spPr>
          <a:xfrm>
            <a:off x="8439912" y="4343400"/>
            <a:ext cx="3017520" cy="868680"/>
          </a:xfrm>
          <a:prstGeom prst="rect">
            <a:avLst/>
          </a:prstGeom>
          <a:noFill/>
          <a:ln/>
        </p:spPr>
        <p:txBody>
          <a:bodyPr wrap="square" lIns="0" tIns="0" rIns="0" bIns="0" rtlCol="0" anchor="t"/>
          <a:lstStyle/>
          <a:p>
            <a:pPr indent="0" marL="0">
              <a:buNone/>
            </a:pPr>
            <a:r>
              <a:rPr lang="en-US" sz="1400" dirty="0">
                <a:solidFill>
                  <a:schemeClr val="tx1"/>
                </a:solidFill>
              </a:rPr>
              <a:t>Long supply chains and price uncertainty; small farmers often sell cheaply before produce spoils.</a:t>
            </a:r>
            <a:endParaRPr lang="en-US" sz="1400" dirty="0"/>
          </a:p>
        </p:txBody>
      </p:sp>
      <p:sp>
        <p:nvSpPr>
          <p:cNvPr id="38" name="Banner"/>
          <p:cNvSpPr/>
          <p:nvPr/>
        </p:nvSpPr>
        <p:spPr>
          <a:xfrm>
            <a:off x="4754880" y="5349240"/>
            <a:ext cx="6885432" cy="731520"/>
          </a:xfrm>
          <a:prstGeom prst="roundRect">
            <a:avLst>
              <a:gd name="adj" fmla="val 12500"/>
            </a:avLst>
          </a:prstGeom>
          <a:solidFill>
            <a:srgbClr val="1F4D36"/>
          </a:solidFill>
          <a:ln w="12700">
            <a:solidFill>
              <a:srgbClr val="1F4D36"/>
            </a:solidFill>
            <a:prstDash val="solid"/>
          </a:ln>
        </p:spPr>
      </p:sp>
      <p:sp>
        <p:nvSpPr>
          <p:cNvPr id="39" name="Icon circle"/>
          <p:cNvSpPr/>
          <p:nvPr/>
        </p:nvSpPr>
        <p:spPr>
          <a:xfrm>
            <a:off x="4937760" y="5486400"/>
            <a:ext cx="457200" cy="457200"/>
          </a:xfrm>
          <a:prstGeom prst="ellipse">
            <a:avLst/>
          </a:prstGeom>
          <a:solidFill>
            <a:schemeClr val="accent2"/>
          </a:solidFill>
          <a:ln w="12700">
            <a:solidFill>
              <a:schemeClr val="accent2"/>
            </a:solidFill>
            <a:prstDash val="solid"/>
          </a:ln>
        </p:spPr>
      </p:sp>
      <p:pic>
        <p:nvPicPr>
          <p:cNvPr id="40" name="Image 6" descr="icon">    </p:cNvPr>
          <p:cNvPicPr>
            <a:picLocks noChangeAspect="1"/>
          </p:cNvPicPr>
          <p:nvPr/>
        </p:nvPicPr>
        <p:blipFill>
          <a:blip r:embed="rId8"/>
          <a:stretch>
            <a:fillRect/>
          </a:stretch>
        </p:blipFill>
        <p:spPr>
          <a:xfrm>
            <a:off x="5038344" y="5586984"/>
            <a:ext cx="256032" cy="256032"/>
          </a:xfrm>
          <a:prstGeom prst="rect">
            <a:avLst/>
          </a:prstGeom>
        </p:spPr>
      </p:pic>
      <p:sp>
        <p:nvSpPr>
          <p:cNvPr id="41" name="Banner text"/>
          <p:cNvSpPr txBox="1"/>
          <p:nvPr/>
        </p:nvSpPr>
        <p:spPr>
          <a:xfrm>
            <a:off x="5577840" y="5394960"/>
            <a:ext cx="5879592" cy="640080"/>
          </a:xfrm>
          <a:prstGeom prst="rect">
            <a:avLst/>
          </a:prstGeom>
          <a:noFill/>
          <a:ln/>
        </p:spPr>
        <p:txBody>
          <a:bodyPr wrap="square" lIns="0" tIns="0" rIns="0" bIns="0" rtlCol="0" anchor="ctr"/>
          <a:lstStyle/>
          <a:p>
            <a:pPr indent="0" marL="0">
              <a:buNone/>
            </a:pPr>
            <a:r>
              <a:rPr lang="en-US" sz="1400" b="1" dirty="0">
                <a:solidFill>
                  <a:schemeClr val="bg1"/>
                </a:solidFill>
              </a:rPr>
              <a:t>Where AI starts: root cause analysis. </a:t>
            </a:r>
            <a:pPr indent="0" marL="0">
              <a:buNone/>
            </a:pPr>
            <a:r>
              <a:rPr lang="en-US" sz="1400" dirty="0">
                <a:solidFill>
                  <a:schemeClr val="bg1"/>
                </a:solidFill>
              </a:rPr>
              <a:t>It links weather, soil, imagery and input data to the likely cause of a yield drop (abductive reasoning).</a:t>
            </a:r>
            <a:endParaRPr lang="en-US" sz="1400" dirty="0"/>
          </a:p>
        </p:txBody>
      </p:sp>
      <p:sp>
        <p:nvSpPr>
          <p:cNvPr id="42" name="Sources"/>
          <p:cNvSpPr txBox="1"/>
          <p:nvPr/>
        </p:nvSpPr>
        <p:spPr>
          <a:xfrm>
            <a:off x="548640" y="6382512"/>
            <a:ext cx="10515600" cy="310896"/>
          </a:xfrm>
          <a:prstGeom prst="rect">
            <a:avLst/>
          </a:prstGeom>
          <a:noFill/>
          <a:ln/>
        </p:spPr>
        <p:txBody>
          <a:bodyPr wrap="square" lIns="0" tIns="0" rIns="0" bIns="0" rtlCol="0" anchor="ctr"/>
          <a:lstStyle/>
          <a:p>
            <a:pPr algn="l" indent="0" marL="0">
              <a:buNone/>
            </a:pPr>
            <a:r>
              <a:rPr lang="en-US" sz="1000" dirty="0">
                <a:solidFill>
                  <a:srgbClr val="5E6B63"/>
                </a:solidFill>
              </a:rPr>
              <a:t>Sources: PLFS 2023-24 (Ministry of Labour, 2024); MoSPI (2025); Agriculture Census 2015-16; NABARD NAFIS 2021-22; CGIAR (2022); FAO (2021); Ma et al. (2018).</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 title"/>
          <p:cNvSpPr txBox="1"/>
          <p:nvPr/>
        </p:nvSpPr>
        <p:spPr>
          <a:xfrm>
            <a:off x="548640" y="320040"/>
            <a:ext cx="11091672" cy="640080"/>
          </a:xfrm>
          <a:prstGeom prst="rect">
            <a:avLst/>
          </a:prstGeom>
          <a:noFill/>
          <a:ln/>
        </p:spPr>
        <p:txBody>
          <a:bodyPr wrap="square" lIns="0" tIns="0" rIns="0" bIns="0" rtlCol="0" anchor="ctr">
            <a:normAutofit/>
          </a:bodyPr>
          <a:lstStyle/>
          <a:p>
            <a:pPr algn="l" indent="0" marL="0">
              <a:buNone/>
            </a:pPr>
            <a:r>
              <a:rPr lang="en-US" sz="2800" b="1" dirty="0">
                <a:solidFill>
                  <a:schemeClr val="tx2"/>
                </a:solidFill>
              </a:rPr>
              <a:t>1. Crop monitoring: AI that watches every field</a:t>
            </a:r>
            <a:endParaRPr lang="en-US" sz="2800" dirty="0"/>
          </a:p>
        </p:txBody>
      </p:sp>
      <p:sp>
        <p:nvSpPr>
          <p:cNvPr id="3" name="Subtitle"/>
          <p:cNvSpPr txBox="1"/>
          <p:nvPr/>
        </p:nvSpPr>
        <p:spPr>
          <a:xfrm>
            <a:off x="548640" y="987552"/>
            <a:ext cx="11091672" cy="365760"/>
          </a:xfrm>
          <a:prstGeom prst="rect">
            <a:avLst/>
          </a:prstGeom>
          <a:noFill/>
          <a:ln/>
        </p:spPr>
        <p:txBody>
          <a:bodyPr wrap="square" lIns="0" tIns="0" rIns="0" bIns="0" rtlCol="0" anchor="t"/>
          <a:lstStyle/>
          <a:p>
            <a:pPr algn="l" indent="0" marL="0">
              <a:buNone/>
            </a:pPr>
            <a:r>
              <a:rPr lang="en-US" sz="1600" dirty="0">
                <a:solidFill>
                  <a:srgbClr val="5E6B63"/>
                </a:solidFill>
              </a:rPr>
              <a:t>Satellites, drones, sensors and phone photos become field-level advice on sowing, water and nutrients.</a:t>
            </a:r>
            <a:endParaRPr lang="en-US" sz="1600" dirty="0"/>
          </a:p>
        </p:txBody>
      </p:sp>
      <p:sp>
        <p:nvSpPr>
          <p:cNvPr id="4" name="Flow box 1"/>
          <p:cNvSpPr/>
          <p:nvPr/>
        </p:nvSpPr>
        <p:spPr>
          <a:xfrm>
            <a:off x="548640" y="1600200"/>
            <a:ext cx="1737360" cy="1280160"/>
          </a:xfrm>
          <a:prstGeom prst="roundRect">
            <a:avLst>
              <a:gd name="adj" fmla="val 7143"/>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5" name="Icon circle"/>
          <p:cNvSpPr/>
          <p:nvPr/>
        </p:nvSpPr>
        <p:spPr>
          <a:xfrm>
            <a:off x="658368" y="1709928"/>
            <a:ext cx="365760" cy="36576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738835" y="1790395"/>
            <a:ext cx="204826" cy="204826"/>
          </a:xfrm>
          <a:prstGeom prst="rect">
            <a:avLst/>
          </a:prstGeom>
        </p:spPr>
      </p:pic>
      <p:sp>
        <p:nvSpPr>
          <p:cNvPr id="7" name="Flow header"/>
          <p:cNvSpPr txBox="1"/>
          <p:nvPr/>
        </p:nvSpPr>
        <p:spPr>
          <a:xfrm>
            <a:off x="1115568" y="1691640"/>
            <a:ext cx="1097280" cy="402336"/>
          </a:xfrm>
          <a:prstGeom prst="rect">
            <a:avLst/>
          </a:prstGeom>
          <a:noFill/>
          <a:ln/>
        </p:spPr>
        <p:txBody>
          <a:bodyPr wrap="square" lIns="0" tIns="0" rIns="0" bIns="0" rtlCol="0" anchor="ctr"/>
          <a:lstStyle/>
          <a:p>
            <a:pPr indent="0" marL="0">
              <a:buNone/>
            </a:pPr>
            <a:r>
              <a:rPr lang="en-US" sz="1500" b="1" dirty="0">
                <a:solidFill>
                  <a:schemeClr val="tx2"/>
                </a:solidFill>
              </a:rPr>
              <a:t>Data in</a:t>
            </a:r>
            <a:endParaRPr lang="en-US" sz="1500" dirty="0"/>
          </a:p>
        </p:txBody>
      </p:sp>
      <p:sp>
        <p:nvSpPr>
          <p:cNvPr id="8" name="Flow text"/>
          <p:cNvSpPr txBox="1"/>
          <p:nvPr/>
        </p:nvSpPr>
        <p:spPr>
          <a:xfrm>
            <a:off x="658368" y="2176272"/>
            <a:ext cx="1536192" cy="658368"/>
          </a:xfrm>
          <a:prstGeom prst="rect">
            <a:avLst/>
          </a:prstGeom>
          <a:noFill/>
          <a:ln/>
        </p:spPr>
        <p:txBody>
          <a:bodyPr wrap="square" lIns="0" tIns="0" rIns="0" bIns="0" rtlCol="0" anchor="t"/>
          <a:lstStyle/>
          <a:p>
            <a:pPr indent="0" marL="0">
              <a:buNone/>
            </a:pPr>
            <a:r>
              <a:rPr lang="en-US" sz="1400" dirty="0">
                <a:solidFill>
                  <a:schemeClr val="tx1"/>
                </a:solidFill>
              </a:rPr>
              <a:t>Satellite and drone images, weather, soil sensors</a:t>
            </a:r>
            <a:endParaRPr lang="en-US" sz="1400" dirty="0"/>
          </a:p>
        </p:txBody>
      </p:sp>
      <p:sp>
        <p:nvSpPr>
          <p:cNvPr id="9" name="Flow arrow"/>
          <p:cNvSpPr/>
          <p:nvPr/>
        </p:nvSpPr>
        <p:spPr>
          <a:xfrm>
            <a:off x="2304288" y="2103120"/>
            <a:ext cx="182880" cy="256032"/>
          </a:xfrm>
          <a:prstGeom prst="rightArrow">
            <a:avLst/>
          </a:prstGeom>
          <a:solidFill>
            <a:schemeClr val="accent2"/>
          </a:solidFill>
          <a:ln w="12700">
            <a:solidFill>
              <a:schemeClr val="accent2"/>
            </a:solidFill>
            <a:prstDash val="solid"/>
          </a:ln>
        </p:spPr>
      </p:sp>
      <p:sp>
        <p:nvSpPr>
          <p:cNvPr id="10" name="Flow box 2"/>
          <p:cNvSpPr/>
          <p:nvPr/>
        </p:nvSpPr>
        <p:spPr>
          <a:xfrm>
            <a:off x="2514600" y="1600200"/>
            <a:ext cx="1737360" cy="1280160"/>
          </a:xfrm>
          <a:prstGeom prst="roundRect">
            <a:avLst>
              <a:gd name="adj" fmla="val 7143"/>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11" name="Icon circle"/>
          <p:cNvSpPr/>
          <p:nvPr/>
        </p:nvSpPr>
        <p:spPr>
          <a:xfrm>
            <a:off x="2624328" y="1709928"/>
            <a:ext cx="365760" cy="365760"/>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2704795" y="1790395"/>
            <a:ext cx="204826" cy="204826"/>
          </a:xfrm>
          <a:prstGeom prst="rect">
            <a:avLst/>
          </a:prstGeom>
        </p:spPr>
      </p:pic>
      <p:sp>
        <p:nvSpPr>
          <p:cNvPr id="13" name="Flow header"/>
          <p:cNvSpPr txBox="1"/>
          <p:nvPr/>
        </p:nvSpPr>
        <p:spPr>
          <a:xfrm>
            <a:off x="3081528" y="1691640"/>
            <a:ext cx="1097280" cy="402336"/>
          </a:xfrm>
          <a:prstGeom prst="rect">
            <a:avLst/>
          </a:prstGeom>
          <a:noFill/>
          <a:ln/>
        </p:spPr>
        <p:txBody>
          <a:bodyPr wrap="square" lIns="0" tIns="0" rIns="0" bIns="0" rtlCol="0" anchor="ctr"/>
          <a:lstStyle/>
          <a:p>
            <a:pPr indent="0" marL="0">
              <a:buNone/>
            </a:pPr>
            <a:r>
              <a:rPr lang="en-US" sz="1500" b="1" dirty="0">
                <a:solidFill>
                  <a:schemeClr val="tx2"/>
                </a:solidFill>
              </a:rPr>
              <a:t>AI model</a:t>
            </a:r>
            <a:endParaRPr lang="en-US" sz="1500" dirty="0"/>
          </a:p>
        </p:txBody>
      </p:sp>
      <p:sp>
        <p:nvSpPr>
          <p:cNvPr id="14" name="Flow text"/>
          <p:cNvSpPr txBox="1"/>
          <p:nvPr/>
        </p:nvSpPr>
        <p:spPr>
          <a:xfrm>
            <a:off x="2624328" y="2176272"/>
            <a:ext cx="1536192" cy="658368"/>
          </a:xfrm>
          <a:prstGeom prst="rect">
            <a:avLst/>
          </a:prstGeom>
          <a:noFill/>
          <a:ln/>
        </p:spPr>
        <p:txBody>
          <a:bodyPr wrap="square" lIns="0" tIns="0" rIns="0" bIns="0" rtlCol="0" anchor="t"/>
          <a:lstStyle/>
          <a:p>
            <a:pPr indent="0" marL="0">
              <a:buNone/>
            </a:pPr>
            <a:r>
              <a:rPr lang="en-US" sz="1400" dirty="0">
                <a:solidFill>
                  <a:schemeClr val="tx1"/>
                </a:solidFill>
              </a:rPr>
              <a:t>Computer vision and ML read crop stage and stress</a:t>
            </a:r>
            <a:endParaRPr lang="en-US" sz="1400" dirty="0"/>
          </a:p>
        </p:txBody>
      </p:sp>
      <p:sp>
        <p:nvSpPr>
          <p:cNvPr id="15" name="Flow arrow"/>
          <p:cNvSpPr/>
          <p:nvPr/>
        </p:nvSpPr>
        <p:spPr>
          <a:xfrm>
            <a:off x="4270248" y="2103120"/>
            <a:ext cx="182880" cy="256032"/>
          </a:xfrm>
          <a:prstGeom prst="rightArrow">
            <a:avLst/>
          </a:prstGeom>
          <a:solidFill>
            <a:schemeClr val="accent2"/>
          </a:solidFill>
          <a:ln w="12700">
            <a:solidFill>
              <a:schemeClr val="accent2"/>
            </a:solidFill>
            <a:prstDash val="solid"/>
          </a:ln>
        </p:spPr>
      </p:sp>
      <p:sp>
        <p:nvSpPr>
          <p:cNvPr id="16" name="Flow box 3"/>
          <p:cNvSpPr/>
          <p:nvPr/>
        </p:nvSpPr>
        <p:spPr>
          <a:xfrm>
            <a:off x="4480560" y="1600200"/>
            <a:ext cx="1737360" cy="1280160"/>
          </a:xfrm>
          <a:prstGeom prst="roundRect">
            <a:avLst>
              <a:gd name="adj" fmla="val 7143"/>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17" name="Icon circle"/>
          <p:cNvSpPr/>
          <p:nvPr/>
        </p:nvSpPr>
        <p:spPr>
          <a:xfrm>
            <a:off x="4590288" y="1709928"/>
            <a:ext cx="365760" cy="365760"/>
          </a:xfrm>
          <a:prstGeom prst="ellipse">
            <a:avLst/>
          </a:prstGeom>
          <a:solidFill>
            <a:schemeClr val="accent1"/>
          </a:solidFill>
          <a:ln w="12700">
            <a:solidFill>
              <a:schemeClr val="accent1"/>
            </a:solidFill>
            <a:prstDash val="solid"/>
          </a:ln>
        </p:spPr>
      </p:sp>
      <p:pic>
        <p:nvPicPr>
          <p:cNvPr id="18" name="Image 2" descr="icon">    </p:cNvPr>
          <p:cNvPicPr>
            <a:picLocks noChangeAspect="1"/>
          </p:cNvPicPr>
          <p:nvPr/>
        </p:nvPicPr>
        <p:blipFill>
          <a:blip r:embed="rId3"/>
          <a:stretch>
            <a:fillRect/>
          </a:stretch>
        </p:blipFill>
        <p:spPr>
          <a:xfrm>
            <a:off x="4670755" y="1790395"/>
            <a:ext cx="204826" cy="204826"/>
          </a:xfrm>
          <a:prstGeom prst="rect">
            <a:avLst/>
          </a:prstGeom>
        </p:spPr>
      </p:pic>
      <p:sp>
        <p:nvSpPr>
          <p:cNvPr id="19" name="Flow header"/>
          <p:cNvSpPr txBox="1"/>
          <p:nvPr/>
        </p:nvSpPr>
        <p:spPr>
          <a:xfrm>
            <a:off x="5047488" y="1691640"/>
            <a:ext cx="1097280" cy="402336"/>
          </a:xfrm>
          <a:prstGeom prst="rect">
            <a:avLst/>
          </a:prstGeom>
          <a:noFill/>
          <a:ln/>
        </p:spPr>
        <p:txBody>
          <a:bodyPr wrap="square" lIns="0" tIns="0" rIns="0" bIns="0" rtlCol="0" anchor="ctr"/>
          <a:lstStyle/>
          <a:p>
            <a:pPr indent="0" marL="0">
              <a:buNone/>
            </a:pPr>
            <a:r>
              <a:rPr lang="en-US" sz="1500" b="1" dirty="0">
                <a:solidFill>
                  <a:schemeClr val="tx2"/>
                </a:solidFill>
              </a:rPr>
              <a:t>Insight</a:t>
            </a:r>
            <a:endParaRPr lang="en-US" sz="1500" dirty="0"/>
          </a:p>
        </p:txBody>
      </p:sp>
      <p:sp>
        <p:nvSpPr>
          <p:cNvPr id="20" name="Flow text"/>
          <p:cNvSpPr txBox="1"/>
          <p:nvPr/>
        </p:nvSpPr>
        <p:spPr>
          <a:xfrm>
            <a:off x="4590288" y="2176272"/>
            <a:ext cx="1536192" cy="658368"/>
          </a:xfrm>
          <a:prstGeom prst="rect">
            <a:avLst/>
          </a:prstGeom>
          <a:noFill/>
          <a:ln/>
        </p:spPr>
        <p:txBody>
          <a:bodyPr wrap="square" lIns="0" tIns="0" rIns="0" bIns="0" rtlCol="0" anchor="t"/>
          <a:lstStyle/>
          <a:p>
            <a:pPr indent="0" marL="0">
              <a:buNone/>
            </a:pPr>
            <a:r>
              <a:rPr lang="en-US" sz="1400" dirty="0">
                <a:solidFill>
                  <a:schemeClr val="tx1"/>
                </a:solidFill>
              </a:rPr>
              <a:t>Field health map and early alerts</a:t>
            </a:r>
            <a:endParaRPr lang="en-US" sz="1400" dirty="0"/>
          </a:p>
        </p:txBody>
      </p:sp>
      <p:sp>
        <p:nvSpPr>
          <p:cNvPr id="21" name="Flow arrow"/>
          <p:cNvSpPr/>
          <p:nvPr/>
        </p:nvSpPr>
        <p:spPr>
          <a:xfrm>
            <a:off x="6236208" y="2103120"/>
            <a:ext cx="182880" cy="256032"/>
          </a:xfrm>
          <a:prstGeom prst="rightArrow">
            <a:avLst/>
          </a:prstGeom>
          <a:solidFill>
            <a:schemeClr val="accent2"/>
          </a:solidFill>
          <a:ln w="12700">
            <a:solidFill>
              <a:schemeClr val="accent2"/>
            </a:solidFill>
            <a:prstDash val="solid"/>
          </a:ln>
        </p:spPr>
      </p:sp>
      <p:sp>
        <p:nvSpPr>
          <p:cNvPr id="22" name="Flow box 4"/>
          <p:cNvSpPr/>
          <p:nvPr/>
        </p:nvSpPr>
        <p:spPr>
          <a:xfrm>
            <a:off x="6446520" y="1600200"/>
            <a:ext cx="1737360" cy="1280160"/>
          </a:xfrm>
          <a:prstGeom prst="roundRect">
            <a:avLst>
              <a:gd name="adj" fmla="val 7143"/>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23" name="Icon circle"/>
          <p:cNvSpPr/>
          <p:nvPr/>
        </p:nvSpPr>
        <p:spPr>
          <a:xfrm>
            <a:off x="6556248" y="1709928"/>
            <a:ext cx="365760" cy="365760"/>
          </a:xfrm>
          <a:prstGeom prst="ellipse">
            <a:avLst/>
          </a:prstGeom>
          <a:solidFill>
            <a:schemeClr val="accent1"/>
          </a:solidFill>
          <a:ln w="12700">
            <a:solidFill>
              <a:schemeClr val="accent1"/>
            </a:solidFill>
            <a:prstDash val="solid"/>
          </a:ln>
        </p:spPr>
      </p:sp>
      <p:pic>
        <p:nvPicPr>
          <p:cNvPr id="24" name="Image 3" descr="icon">    </p:cNvPr>
          <p:cNvPicPr>
            <a:picLocks noChangeAspect="1"/>
          </p:cNvPicPr>
          <p:nvPr/>
        </p:nvPicPr>
        <p:blipFill>
          <a:blip r:embed="rId4"/>
          <a:stretch>
            <a:fillRect/>
          </a:stretch>
        </p:blipFill>
        <p:spPr>
          <a:xfrm>
            <a:off x="6636715" y="1790395"/>
            <a:ext cx="204826" cy="204826"/>
          </a:xfrm>
          <a:prstGeom prst="rect">
            <a:avLst/>
          </a:prstGeom>
        </p:spPr>
      </p:pic>
      <p:sp>
        <p:nvSpPr>
          <p:cNvPr id="25" name="Flow header"/>
          <p:cNvSpPr txBox="1"/>
          <p:nvPr/>
        </p:nvSpPr>
        <p:spPr>
          <a:xfrm>
            <a:off x="7013448" y="1691640"/>
            <a:ext cx="1097280" cy="402336"/>
          </a:xfrm>
          <a:prstGeom prst="rect">
            <a:avLst/>
          </a:prstGeom>
          <a:noFill/>
          <a:ln/>
        </p:spPr>
        <p:txBody>
          <a:bodyPr wrap="square" lIns="0" tIns="0" rIns="0" bIns="0" rtlCol="0" anchor="ctr"/>
          <a:lstStyle/>
          <a:p>
            <a:pPr indent="0" marL="0">
              <a:buNone/>
            </a:pPr>
            <a:r>
              <a:rPr lang="en-US" sz="1500" b="1" dirty="0">
                <a:solidFill>
                  <a:schemeClr val="tx2"/>
                </a:solidFill>
              </a:rPr>
              <a:t>Decision</a:t>
            </a:r>
            <a:endParaRPr lang="en-US" sz="1500" dirty="0"/>
          </a:p>
        </p:txBody>
      </p:sp>
      <p:sp>
        <p:nvSpPr>
          <p:cNvPr id="26" name="Flow text"/>
          <p:cNvSpPr txBox="1"/>
          <p:nvPr/>
        </p:nvSpPr>
        <p:spPr>
          <a:xfrm>
            <a:off x="6556248" y="2176272"/>
            <a:ext cx="1536192" cy="658368"/>
          </a:xfrm>
          <a:prstGeom prst="rect">
            <a:avLst/>
          </a:prstGeom>
          <a:noFill/>
          <a:ln/>
        </p:spPr>
        <p:txBody>
          <a:bodyPr wrap="square" lIns="0" tIns="0" rIns="0" bIns="0" rtlCol="0" anchor="t"/>
          <a:lstStyle/>
          <a:p>
            <a:pPr indent="0" marL="0">
              <a:buNone/>
            </a:pPr>
            <a:r>
              <a:rPr lang="en-US" sz="1400" dirty="0">
                <a:solidFill>
                  <a:schemeClr val="tx1"/>
                </a:solidFill>
              </a:rPr>
              <a:t>When to sow, irrigate and fertilise</a:t>
            </a:r>
            <a:endParaRPr lang="en-US" sz="1400" dirty="0"/>
          </a:p>
        </p:txBody>
      </p:sp>
      <p:sp>
        <p:nvSpPr>
          <p:cNvPr id="27" name="Proof card"/>
          <p:cNvSpPr/>
          <p:nvPr/>
        </p:nvSpPr>
        <p:spPr>
          <a:xfrm>
            <a:off x="548640" y="3017520"/>
            <a:ext cx="3703320" cy="2377440"/>
          </a:xfrm>
          <a:prstGeom prst="roundRect">
            <a:avLst>
              <a:gd name="adj" fmla="val 3846"/>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28" name="Icon circle"/>
          <p:cNvSpPr/>
          <p:nvPr/>
        </p:nvSpPr>
        <p:spPr>
          <a:xfrm>
            <a:off x="731520" y="3127248"/>
            <a:ext cx="420624" cy="420624"/>
          </a:xfrm>
          <a:prstGeom prst="ellipse">
            <a:avLst/>
          </a:prstGeom>
          <a:solidFill>
            <a:schemeClr val="accent1"/>
          </a:solidFill>
          <a:ln w="12700">
            <a:solidFill>
              <a:schemeClr val="accent1"/>
            </a:solidFill>
            <a:prstDash val="solid"/>
          </a:ln>
        </p:spPr>
      </p:sp>
      <p:pic>
        <p:nvPicPr>
          <p:cNvPr id="29" name="Image 4" descr="icon">    </p:cNvPr>
          <p:cNvPicPr>
            <a:picLocks noChangeAspect="1"/>
          </p:cNvPicPr>
          <p:nvPr/>
        </p:nvPicPr>
        <p:blipFill>
          <a:blip r:embed="rId5"/>
          <a:stretch>
            <a:fillRect/>
          </a:stretch>
        </p:blipFill>
        <p:spPr>
          <a:xfrm>
            <a:off x="824057" y="3219785"/>
            <a:ext cx="235549" cy="235549"/>
          </a:xfrm>
          <a:prstGeom prst="rect">
            <a:avLst/>
          </a:prstGeom>
        </p:spPr>
      </p:pic>
      <p:sp>
        <p:nvSpPr>
          <p:cNvPr id="30" name="Card header"/>
          <p:cNvSpPr txBox="1"/>
          <p:nvPr/>
        </p:nvSpPr>
        <p:spPr>
          <a:xfrm>
            <a:off x="1280160" y="310896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Proof from the field</a:t>
            </a:r>
            <a:endParaRPr lang="en-US" sz="1700" dirty="0"/>
          </a:p>
        </p:txBody>
      </p:sp>
      <p:sp>
        <p:nvSpPr>
          <p:cNvPr id="31" name="Bullets"/>
          <p:cNvSpPr txBox="1"/>
          <p:nvPr/>
        </p:nvSpPr>
        <p:spPr>
          <a:xfrm>
            <a:off x="731520" y="3675888"/>
            <a:ext cx="3383280" cy="16916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ICRISAT and Microsoft sowing advice by SMS: a 175-farmer pilot reported yields up to 30% higher</a:t>
            </a:r>
            <a:endParaRPr lang="en-US" sz="1400" dirty="0"/>
          </a:p>
          <a:p>
            <a:pPr marL="177800" indent="-177800">
              <a:spcAft>
                <a:spcPts val="400"/>
              </a:spcAft>
              <a:buSzPct val="100000"/>
              <a:buChar char="•"/>
            </a:pPr>
            <a:r>
              <a:rPr lang="en-US" sz="1400" dirty="0">
                <a:solidFill>
                  <a:schemeClr val="tx1"/>
                </a:solidFill>
              </a:rPr>
              <a:t>10 to 30% gains reported across 3,000+ farmers in 2017</a:t>
            </a:r>
            <a:endParaRPr lang="en-US" sz="1400" dirty="0"/>
          </a:p>
          <a:p>
            <a:pPr marL="177800" indent="-177800">
              <a:spcAft>
                <a:spcPts val="400"/>
              </a:spcAft>
              <a:buSzPct val="100000"/>
              <a:buChar char="•"/>
            </a:pPr>
            <a:r>
              <a:rPr lang="en-US" sz="1400" dirty="0">
                <a:solidFill>
                  <a:schemeClr val="tx1"/>
                </a:solidFill>
              </a:rPr>
              <a:t>Developer-reported, one season: promising, not proven</a:t>
            </a:r>
            <a:endParaRPr lang="en-US" sz="1400" dirty="0"/>
          </a:p>
        </p:txBody>
      </p:sp>
      <p:sp>
        <p:nvSpPr>
          <p:cNvPr id="32" name="Players card"/>
          <p:cNvSpPr/>
          <p:nvPr/>
        </p:nvSpPr>
        <p:spPr>
          <a:xfrm>
            <a:off x="4434840" y="3017520"/>
            <a:ext cx="3703320" cy="2377440"/>
          </a:xfrm>
          <a:prstGeom prst="roundRect">
            <a:avLst>
              <a:gd name="adj" fmla="val 3846"/>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33" name="Icon circle"/>
          <p:cNvSpPr/>
          <p:nvPr/>
        </p:nvSpPr>
        <p:spPr>
          <a:xfrm>
            <a:off x="4617720" y="3127248"/>
            <a:ext cx="420624" cy="420624"/>
          </a:xfrm>
          <a:prstGeom prst="ellipse">
            <a:avLst/>
          </a:prstGeom>
          <a:solidFill>
            <a:schemeClr val="accent1"/>
          </a:solidFill>
          <a:ln w="12700">
            <a:solidFill>
              <a:schemeClr val="accent1"/>
            </a:solidFill>
            <a:prstDash val="solid"/>
          </a:ln>
        </p:spPr>
      </p:sp>
      <p:pic>
        <p:nvPicPr>
          <p:cNvPr id="34" name="Image 5" descr="icon">    </p:cNvPr>
          <p:cNvPicPr>
            <a:picLocks noChangeAspect="1"/>
          </p:cNvPicPr>
          <p:nvPr/>
        </p:nvPicPr>
        <p:blipFill>
          <a:blip r:embed="rId6"/>
          <a:stretch>
            <a:fillRect/>
          </a:stretch>
        </p:blipFill>
        <p:spPr>
          <a:xfrm>
            <a:off x="4710257" y="3219785"/>
            <a:ext cx="235549" cy="235549"/>
          </a:xfrm>
          <a:prstGeom prst="rect">
            <a:avLst/>
          </a:prstGeom>
        </p:spPr>
      </p:pic>
      <p:sp>
        <p:nvSpPr>
          <p:cNvPr id="35" name="Card header"/>
          <p:cNvSpPr txBox="1"/>
          <p:nvPr/>
        </p:nvSpPr>
        <p:spPr>
          <a:xfrm>
            <a:off x="5166360" y="310896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Who is doing it</a:t>
            </a:r>
            <a:endParaRPr lang="en-US" sz="1700" dirty="0"/>
          </a:p>
        </p:txBody>
      </p:sp>
      <p:sp>
        <p:nvSpPr>
          <p:cNvPr id="36" name="Bullets"/>
          <p:cNvSpPr txBox="1"/>
          <p:nvPr/>
        </p:nvSpPr>
        <p:spPr>
          <a:xfrm>
            <a:off x="4617720" y="3675888"/>
            <a:ext cx="3383280" cy="16916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Digital Agriculture Mission (₹2,817 crore, 2024): AgriStack and Krishi-DSS combine satellite, soil and weather data</a:t>
            </a:r>
            <a:endParaRPr lang="en-US" sz="1400" dirty="0"/>
          </a:p>
          <a:p>
            <a:pPr marL="177800" indent="-177800">
              <a:spcAft>
                <a:spcPts val="400"/>
              </a:spcAft>
              <a:buSzPct val="100000"/>
              <a:buChar char="•"/>
            </a:pPr>
            <a:r>
              <a:rPr lang="en-US" sz="1400" dirty="0">
                <a:solidFill>
                  <a:schemeClr val="tx1"/>
                </a:solidFill>
              </a:rPr>
              <a:t>Cropin: 22 AI models, from crop detection to pest prediction</a:t>
            </a:r>
            <a:endParaRPr lang="en-US" sz="1400" dirty="0"/>
          </a:p>
          <a:p>
            <a:pPr marL="177800" indent="-177800">
              <a:spcAft>
                <a:spcPts val="400"/>
              </a:spcAft>
              <a:buSzPct val="100000"/>
              <a:buChar char="•"/>
            </a:pPr>
            <a:r>
              <a:rPr lang="en-US" sz="1400" dirty="0">
                <a:solidFill>
                  <a:schemeClr val="tx1"/>
                </a:solidFill>
              </a:rPr>
              <a:t>DeHaat: AI advice for 30+ crops in regional languages</a:t>
            </a:r>
            <a:endParaRPr lang="en-US" sz="1400" dirty="0"/>
          </a:p>
        </p:txBody>
      </p:sp>
      <p:sp>
        <p:nvSpPr>
          <p:cNvPr id="37" name="Banner"/>
          <p:cNvSpPr/>
          <p:nvPr/>
        </p:nvSpPr>
        <p:spPr>
          <a:xfrm>
            <a:off x="548640" y="5532120"/>
            <a:ext cx="7589520" cy="594360"/>
          </a:xfrm>
          <a:prstGeom prst="roundRect">
            <a:avLst>
              <a:gd name="adj" fmla="val 15385"/>
            </a:avLst>
          </a:prstGeom>
          <a:solidFill>
            <a:srgbClr val="B5432C"/>
          </a:solidFill>
          <a:ln w="12700">
            <a:solidFill>
              <a:srgbClr val="B5432C"/>
            </a:solidFill>
            <a:prstDash val="solid"/>
          </a:ln>
        </p:spPr>
      </p:sp>
      <p:sp>
        <p:nvSpPr>
          <p:cNvPr id="38" name="Icon circle"/>
          <p:cNvSpPr/>
          <p:nvPr/>
        </p:nvSpPr>
        <p:spPr>
          <a:xfrm>
            <a:off x="731520" y="5600700"/>
            <a:ext cx="457200" cy="457200"/>
          </a:xfrm>
          <a:prstGeom prst="ellipse">
            <a:avLst/>
          </a:prstGeom>
          <a:solidFill>
            <a:schemeClr val="accent2"/>
          </a:solidFill>
          <a:ln w="12700">
            <a:solidFill>
              <a:schemeClr val="accent2"/>
            </a:solidFill>
            <a:prstDash val="solid"/>
          </a:ln>
        </p:spPr>
      </p:sp>
      <p:pic>
        <p:nvPicPr>
          <p:cNvPr id="39" name="Image 6" descr="icon">    </p:cNvPr>
          <p:cNvPicPr>
            <a:picLocks noChangeAspect="1"/>
          </p:cNvPicPr>
          <p:nvPr/>
        </p:nvPicPr>
        <p:blipFill>
          <a:blip r:embed="rId7"/>
          <a:stretch>
            <a:fillRect/>
          </a:stretch>
        </p:blipFill>
        <p:spPr>
          <a:xfrm>
            <a:off x="832104" y="5701284"/>
            <a:ext cx="256032" cy="256032"/>
          </a:xfrm>
          <a:prstGeom prst="rect">
            <a:avLst/>
          </a:prstGeom>
        </p:spPr>
      </p:pic>
      <p:sp>
        <p:nvSpPr>
          <p:cNvPr id="40" name="Banner text"/>
          <p:cNvSpPr txBox="1"/>
          <p:nvPr/>
        </p:nvSpPr>
        <p:spPr>
          <a:xfrm>
            <a:off x="1371600" y="5577840"/>
            <a:ext cx="6583680" cy="502920"/>
          </a:xfrm>
          <a:prstGeom prst="rect">
            <a:avLst/>
          </a:prstGeom>
          <a:noFill/>
          <a:ln/>
        </p:spPr>
        <p:txBody>
          <a:bodyPr wrap="square" lIns="0" tIns="0" rIns="0" bIns="0" rtlCol="0" anchor="ctr"/>
          <a:lstStyle/>
          <a:p>
            <a:pPr indent="0" marL="0">
              <a:buNone/>
            </a:pPr>
            <a:r>
              <a:rPr lang="en-US" sz="1400" b="1" dirty="0">
                <a:solidFill>
                  <a:schemeClr val="bg1"/>
                </a:solidFill>
              </a:rPr>
              <a:t>Challenge: </a:t>
            </a:r>
            <a:pPr indent="0" marL="0">
              <a:buNone/>
            </a:pPr>
            <a:r>
              <a:rPr lang="en-US" sz="1400" dirty="0">
                <a:solidFill>
                  <a:schemeClr val="bg1"/>
                </a:solidFill>
              </a:rPr>
              <a:t>at 10 m resolution a 0.6 ha plot is only about 60 pixels, and cloud blocks optical images in the monsoon.</a:t>
            </a:r>
            <a:endParaRPr lang="en-US" sz="1400" dirty="0"/>
          </a:p>
        </p:txBody>
      </p:sp>
      <p:sp>
        <p:nvSpPr>
          <p:cNvPr id="41" name="Course concepts panel"/>
          <p:cNvSpPr/>
          <p:nvPr/>
        </p:nvSpPr>
        <p:spPr>
          <a:xfrm>
            <a:off x="8458200" y="1600200"/>
            <a:ext cx="3182112" cy="4526280"/>
          </a:xfrm>
          <a:prstGeom prst="roundRect">
            <a:avLst>
              <a:gd name="adj" fmla="val 2874"/>
            </a:avLst>
          </a:prstGeom>
          <a:solidFill>
            <a:schemeClr val="bg2"/>
          </a:solidFill>
          <a:ln w="12700">
            <a:solidFill>
              <a:schemeClr val="accent6"/>
            </a:solidFill>
            <a:prstDash val="solid"/>
          </a:ln>
        </p:spPr>
      </p:sp>
      <p:sp>
        <p:nvSpPr>
          <p:cNvPr id="42" name="Icon circle"/>
          <p:cNvSpPr/>
          <p:nvPr/>
        </p:nvSpPr>
        <p:spPr>
          <a:xfrm>
            <a:off x="8641080" y="1755648"/>
            <a:ext cx="402336" cy="402336"/>
          </a:xfrm>
          <a:prstGeom prst="ellipse">
            <a:avLst/>
          </a:prstGeom>
          <a:solidFill>
            <a:schemeClr val="accent1"/>
          </a:solidFill>
          <a:ln w="12700">
            <a:solidFill>
              <a:schemeClr val="accent1"/>
            </a:solidFill>
            <a:prstDash val="solid"/>
          </a:ln>
        </p:spPr>
      </p:sp>
      <p:pic>
        <p:nvPicPr>
          <p:cNvPr id="43" name="Image 7" descr="icon">    </p:cNvPr>
          <p:cNvPicPr>
            <a:picLocks noChangeAspect="1"/>
          </p:cNvPicPr>
          <p:nvPr/>
        </p:nvPicPr>
        <p:blipFill>
          <a:blip r:embed="rId8"/>
          <a:stretch>
            <a:fillRect/>
          </a:stretch>
        </p:blipFill>
        <p:spPr>
          <a:xfrm>
            <a:off x="8729594" y="1844162"/>
            <a:ext cx="225308" cy="225308"/>
          </a:xfrm>
          <a:prstGeom prst="rect">
            <a:avLst/>
          </a:prstGeom>
        </p:spPr>
      </p:pic>
      <p:sp>
        <p:nvSpPr>
          <p:cNvPr id="44" name="Panel header"/>
          <p:cNvSpPr txBox="1"/>
          <p:nvPr/>
        </p:nvSpPr>
        <p:spPr>
          <a:xfrm>
            <a:off x="9153144" y="1728216"/>
            <a:ext cx="2359152" cy="457200"/>
          </a:xfrm>
          <a:prstGeom prst="rect">
            <a:avLst/>
          </a:prstGeom>
          <a:noFill/>
          <a:ln/>
        </p:spPr>
        <p:txBody>
          <a:bodyPr wrap="square" lIns="0" tIns="0" rIns="0" bIns="0" rtlCol="0" anchor="ctr"/>
          <a:lstStyle/>
          <a:p>
            <a:pPr indent="0" marL="0">
              <a:buNone/>
            </a:pPr>
            <a:r>
              <a:rPr lang="en-US" sz="1600" b="1" dirty="0">
                <a:solidFill>
                  <a:schemeClr val="tx2"/>
                </a:solidFill>
              </a:rPr>
              <a:t>Course concepts applied</a:t>
            </a:r>
            <a:endParaRPr lang="en-US" sz="1600" dirty="0"/>
          </a:p>
        </p:txBody>
      </p:sp>
      <p:sp>
        <p:nvSpPr>
          <p:cNvPr id="45" name="Course concepts list"/>
          <p:cNvSpPr txBox="1"/>
          <p:nvPr/>
        </p:nvSpPr>
        <p:spPr>
          <a:xfrm>
            <a:off x="8659368" y="2350008"/>
            <a:ext cx="2779776" cy="3657600"/>
          </a:xfrm>
          <a:prstGeom prst="rect">
            <a:avLst/>
          </a:prstGeom>
          <a:noFill/>
          <a:ln/>
        </p:spPr>
        <p:txBody>
          <a:bodyPr wrap="square" lIns="0" tIns="0" rIns="0" bIns="0" rtlCol="0" anchor="t"/>
          <a:lstStyle/>
          <a:p>
            <a:pPr indent="0" marL="0">
              <a:buNone/>
            </a:pPr>
            <a:r>
              <a:rPr lang="en-US" sz="1400" b="1" dirty="0">
                <a:solidFill>
                  <a:schemeClr val="accent1"/>
                </a:solidFill>
              </a:rPr>
              <a:t>Perception</a:t>
            </a:r>
            <a:endParaRPr lang="en-US" sz="1400" dirty="0"/>
          </a:p>
          <a:p>
            <a:pPr indent="0" marL="0">
              <a:buNone/>
            </a:pPr>
            <a:r>
              <a:rPr lang="en-US" sz="1400" dirty="0">
                <a:solidFill>
                  <a:schemeClr val="tx1"/>
                </a:solidFill>
              </a:rPr>
              <a:t>AI's eyes: computer vision reads satellite and drone images (unstructured data).</a:t>
            </a:r>
            <a:endParaRPr lang="en-US" sz="1400" dirty="0"/>
          </a:p>
          <a:p>
            <a:pPr indent="0" marL="0">
              <a:spcBef>
                <a:spcPts val="1300"/>
              </a:spcBef>
              <a:buNone/>
            </a:pPr>
            <a:r>
              <a:rPr lang="en-US" sz="1400" b="1" dirty="0">
                <a:solidFill>
                  <a:schemeClr val="accent1"/>
                </a:solidFill>
              </a:rPr>
              <a:t>CNN</a:t>
            </a:r>
            <a:endParaRPr lang="en-US" sz="1400" dirty="0"/>
          </a:p>
          <a:p>
            <a:pPr indent="0" marL="0">
              <a:buNone/>
            </a:pPr>
            <a:r>
              <a:rPr lang="en-US" sz="1400" dirty="0">
                <a:solidFill>
                  <a:schemeClr val="tx1"/>
                </a:solidFill>
              </a:rPr>
              <a:t>Filters pick out edges and textures, so crop stress shows up in an image.</a:t>
            </a:r>
            <a:endParaRPr lang="en-US" sz="1400" dirty="0"/>
          </a:p>
          <a:p>
            <a:pPr indent="0" marL="0">
              <a:spcBef>
                <a:spcPts val="1300"/>
              </a:spcBef>
              <a:buNone/>
            </a:pPr>
            <a:r>
              <a:rPr lang="en-US" sz="1400" b="1" dirty="0">
                <a:solidFill>
                  <a:schemeClr val="accent1"/>
                </a:solidFill>
              </a:rPr>
              <a:t>Clustering (K-means)</a:t>
            </a:r>
            <a:endParaRPr lang="en-US" sz="1400" dirty="0"/>
          </a:p>
          <a:p>
            <a:pPr indent="0" marL="0">
              <a:buNone/>
            </a:pPr>
            <a:r>
              <a:rPr lang="en-US" sz="1400" dirty="0">
                <a:solidFill>
                  <a:schemeClr val="tx1"/>
                </a:solidFill>
              </a:rPr>
              <a:t>Groups similar zones in a field without any labels.</a:t>
            </a:r>
            <a:endParaRPr lang="en-US" sz="1400" dirty="0"/>
          </a:p>
          <a:p>
            <a:pPr indent="0" marL="0">
              <a:spcBef>
                <a:spcPts val="1300"/>
              </a:spcBef>
              <a:buNone/>
            </a:pPr>
            <a:r>
              <a:rPr lang="en-US" sz="1400" b="1" dirty="0">
                <a:solidFill>
                  <a:schemeClr val="accent1"/>
                </a:solidFill>
              </a:rPr>
              <a:t>Edge AI</a:t>
            </a:r>
            <a:endParaRPr lang="en-US" sz="1400" dirty="0"/>
          </a:p>
          <a:p>
            <a:pPr indent="0" marL="0">
              <a:buNone/>
            </a:pPr>
            <a:r>
              <a:rPr lang="en-US" sz="1400" dirty="0">
                <a:solidFill>
                  <a:schemeClr val="tx1"/>
                </a:solidFill>
              </a:rPr>
              <a:t>Drones analyse crops on the device, even without internet.</a:t>
            </a:r>
            <a:endParaRPr lang="en-US" sz="1400" dirty="0"/>
          </a:p>
        </p:txBody>
      </p:sp>
      <p:sp>
        <p:nvSpPr>
          <p:cNvPr id="46" name="Sources"/>
          <p:cNvSpPr txBox="1"/>
          <p:nvPr/>
        </p:nvSpPr>
        <p:spPr>
          <a:xfrm>
            <a:off x="548640" y="6382512"/>
            <a:ext cx="10515600" cy="310896"/>
          </a:xfrm>
          <a:prstGeom prst="rect">
            <a:avLst/>
          </a:prstGeom>
          <a:noFill/>
          <a:ln/>
        </p:spPr>
        <p:txBody>
          <a:bodyPr wrap="square" lIns="0" tIns="0" rIns="0" bIns="0" rtlCol="0" anchor="ctr"/>
          <a:lstStyle/>
          <a:p>
            <a:pPr algn="l" indent="0" marL="0">
              <a:buNone/>
            </a:pPr>
            <a:r>
              <a:rPr lang="en-US" sz="1000" dirty="0">
                <a:solidFill>
                  <a:srgbClr val="5E6B63"/>
                </a:solidFill>
              </a:rPr>
              <a:t>Sources: Microsoft Stories India (2017); PIB (2024); TechCrunch (2022); NITI Aayog (2025); Mint (2018). Company figures are self-reported.</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 title"/>
          <p:cNvSpPr txBox="1"/>
          <p:nvPr/>
        </p:nvSpPr>
        <p:spPr>
          <a:xfrm>
            <a:off x="548640" y="320040"/>
            <a:ext cx="11091672" cy="640080"/>
          </a:xfrm>
          <a:prstGeom prst="rect">
            <a:avLst/>
          </a:prstGeom>
          <a:noFill/>
          <a:ln/>
        </p:spPr>
        <p:txBody>
          <a:bodyPr wrap="square" lIns="0" tIns="0" rIns="0" bIns="0" rtlCol="0" anchor="ctr">
            <a:normAutofit/>
          </a:bodyPr>
          <a:lstStyle/>
          <a:p>
            <a:pPr algn="l" indent="0" marL="0">
              <a:buNone/>
            </a:pPr>
            <a:r>
              <a:rPr lang="en-US" sz="2800" b="1" dirty="0">
                <a:solidFill>
                  <a:schemeClr val="tx2"/>
                </a:solidFill>
              </a:rPr>
              <a:t>2. Pest and disease detection: catching problems early</a:t>
            </a:r>
            <a:endParaRPr lang="en-US" sz="2800" dirty="0"/>
          </a:p>
        </p:txBody>
      </p:sp>
      <p:sp>
        <p:nvSpPr>
          <p:cNvPr id="3" name="Subtitle"/>
          <p:cNvSpPr txBox="1"/>
          <p:nvPr/>
        </p:nvSpPr>
        <p:spPr>
          <a:xfrm>
            <a:off x="548640" y="987552"/>
            <a:ext cx="11091672" cy="365760"/>
          </a:xfrm>
          <a:prstGeom prst="rect">
            <a:avLst/>
          </a:prstGeom>
          <a:noFill/>
          <a:ln/>
        </p:spPr>
        <p:txBody>
          <a:bodyPr wrap="square" lIns="0" tIns="0" rIns="0" bIns="0" rtlCol="0" anchor="t"/>
          <a:lstStyle/>
          <a:p>
            <a:pPr algn="l" indent="0" marL="0">
              <a:buNone/>
            </a:pPr>
            <a:r>
              <a:rPr lang="en-US" sz="1600" dirty="0">
                <a:solidFill>
                  <a:srgbClr val="5E6B63"/>
                </a:solidFill>
              </a:rPr>
              <a:t>A phone photo or a trap image becomes a diagnosis, a pest count and a spray decision.</a:t>
            </a:r>
            <a:endParaRPr lang="en-US" sz="1600" dirty="0"/>
          </a:p>
        </p:txBody>
      </p:sp>
      <p:sp>
        <p:nvSpPr>
          <p:cNvPr id="4" name="Chart card"/>
          <p:cNvSpPr/>
          <p:nvPr/>
        </p:nvSpPr>
        <p:spPr>
          <a:xfrm>
            <a:off x="548640" y="1600200"/>
            <a:ext cx="3703320" cy="2788920"/>
          </a:xfrm>
          <a:prstGeom prst="roundRect">
            <a:avLst>
              <a:gd name="adj" fmla="val 3279"/>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graphicFrame>
        <p:nvGraphicFramePr>
          <p:cNvPr id="5" name="Chart 0" descr=""/>
          <p:cNvGraphicFramePr/>
          <p:nvPr/>
        </p:nvGraphicFramePr>
        <p:xfrm>
          <a:off x="640080" y="1645920"/>
          <a:ext cx="3520440" cy="2697480"/>
        </p:xfrm>
        <a:graphic xmlns:a="http://schemas.openxmlformats.org/drawingml/2006/main">
          <a:graphicData uri="http://schemas.openxmlformats.org/drawingml/2006/chart">
            <c:chart xmlns:c="http://schemas.openxmlformats.org/drawingml/2006/chart" r:id="rId1"/>
          </a:graphicData>
        </a:graphic>
      </p:graphicFrame>
      <p:sp>
        <p:nvSpPr>
          <p:cNvPr id="6" name="Threshold card"/>
          <p:cNvSpPr/>
          <p:nvPr/>
        </p:nvSpPr>
        <p:spPr>
          <a:xfrm>
            <a:off x="548640" y="4526280"/>
            <a:ext cx="3703320" cy="1600200"/>
          </a:xfrm>
          <a:prstGeom prst="roundRect">
            <a:avLst>
              <a:gd name="adj" fmla="val 5714"/>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7" name="Icon circle"/>
          <p:cNvSpPr/>
          <p:nvPr/>
        </p:nvSpPr>
        <p:spPr>
          <a:xfrm>
            <a:off x="731520" y="4617720"/>
            <a:ext cx="420624" cy="420624"/>
          </a:xfrm>
          <a:prstGeom prst="ellipse">
            <a:avLst/>
          </a:prstGeom>
          <a:solidFill>
            <a:schemeClr val="accent2"/>
          </a:solidFill>
          <a:ln w="12700">
            <a:solidFill>
              <a:schemeClr val="accent2"/>
            </a:solidFill>
            <a:prstDash val="solid"/>
          </a:ln>
        </p:spPr>
      </p:sp>
      <p:pic>
        <p:nvPicPr>
          <p:cNvPr id="8" name="Image 0" descr="icon">    </p:cNvPr>
          <p:cNvPicPr>
            <a:picLocks noChangeAspect="1"/>
          </p:cNvPicPr>
          <p:nvPr/>
        </p:nvPicPr>
        <p:blipFill>
          <a:blip r:embed="rId2"/>
          <a:stretch>
            <a:fillRect/>
          </a:stretch>
        </p:blipFill>
        <p:spPr>
          <a:xfrm>
            <a:off x="824057" y="4710257"/>
            <a:ext cx="235549" cy="235549"/>
          </a:xfrm>
          <a:prstGeom prst="rect">
            <a:avLst/>
          </a:prstGeom>
        </p:spPr>
      </p:pic>
      <p:sp>
        <p:nvSpPr>
          <p:cNvPr id="9" name="Card header"/>
          <p:cNvSpPr txBox="1"/>
          <p:nvPr/>
        </p:nvSpPr>
        <p:spPr>
          <a:xfrm>
            <a:off x="1280160" y="4599432"/>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Spray threshold trade-off</a:t>
            </a:r>
            <a:endParaRPr lang="en-US" sz="1700" dirty="0"/>
          </a:p>
        </p:txBody>
      </p:sp>
      <p:sp>
        <p:nvSpPr>
          <p:cNvPr id="10" name="Threshold text"/>
          <p:cNvSpPr txBox="1"/>
          <p:nvPr/>
        </p:nvSpPr>
        <p:spPr>
          <a:xfrm>
            <a:off x="731520" y="5138928"/>
            <a:ext cx="3383280" cy="914400"/>
          </a:xfrm>
          <a:prstGeom prst="rect">
            <a:avLst/>
          </a:prstGeom>
          <a:noFill/>
          <a:ln/>
        </p:spPr>
        <p:txBody>
          <a:bodyPr wrap="square" lIns="0" tIns="0" rIns="0" bIns="0" rtlCol="0" anchor="t"/>
          <a:lstStyle/>
          <a:p>
            <a:pPr indent="0" marL="0">
              <a:buNone/>
            </a:pPr>
            <a:r>
              <a:rPr lang="en-US" sz="1400" dirty="0">
                <a:solidFill>
                  <a:schemeClr val="tx1"/>
                </a:solidFill>
              </a:rPr>
              <a:t>The trigger fell from 8 to 4 moths per trap per night: fewer missed outbreaks, but more false alarms.</a:t>
            </a:r>
            <a:endParaRPr lang="en-US" sz="1400" dirty="0"/>
          </a:p>
        </p:txBody>
      </p:sp>
      <p:sp>
        <p:nvSpPr>
          <p:cNvPr id="11" name="CottonAce card"/>
          <p:cNvSpPr/>
          <p:nvPr/>
        </p:nvSpPr>
        <p:spPr>
          <a:xfrm>
            <a:off x="4434840" y="1600200"/>
            <a:ext cx="3703320" cy="2194560"/>
          </a:xfrm>
          <a:prstGeom prst="roundRect">
            <a:avLst>
              <a:gd name="adj" fmla="val 4167"/>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12" name="Icon circle"/>
          <p:cNvSpPr/>
          <p:nvPr/>
        </p:nvSpPr>
        <p:spPr>
          <a:xfrm>
            <a:off x="4617720" y="1709928"/>
            <a:ext cx="420624" cy="420624"/>
          </a:xfrm>
          <a:prstGeom prst="ellipse">
            <a:avLst/>
          </a:prstGeom>
          <a:solidFill>
            <a:schemeClr val="accent1"/>
          </a:solidFill>
          <a:ln w="12700">
            <a:solidFill>
              <a:schemeClr val="accent1"/>
            </a:solidFill>
            <a:prstDash val="solid"/>
          </a:ln>
        </p:spPr>
      </p:sp>
      <p:pic>
        <p:nvPicPr>
          <p:cNvPr id="13" name="Image 1" descr="icon">    </p:cNvPr>
          <p:cNvPicPr>
            <a:picLocks noChangeAspect="1"/>
          </p:cNvPicPr>
          <p:nvPr/>
        </p:nvPicPr>
        <p:blipFill>
          <a:blip r:embed="rId3"/>
          <a:stretch>
            <a:fillRect/>
          </a:stretch>
        </p:blipFill>
        <p:spPr>
          <a:xfrm>
            <a:off x="4710257" y="1802465"/>
            <a:ext cx="235549" cy="235549"/>
          </a:xfrm>
          <a:prstGeom prst="rect">
            <a:avLst/>
          </a:prstGeom>
        </p:spPr>
      </p:pic>
      <p:sp>
        <p:nvSpPr>
          <p:cNvPr id="14" name="Card header"/>
          <p:cNvSpPr txBox="1"/>
          <p:nvPr/>
        </p:nvSpPr>
        <p:spPr>
          <a:xfrm>
            <a:off x="5166360" y="169164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CottonAce: pink bollworm</a:t>
            </a:r>
            <a:endParaRPr lang="en-US" sz="1700" dirty="0"/>
          </a:p>
        </p:txBody>
      </p:sp>
      <p:sp>
        <p:nvSpPr>
          <p:cNvPr id="15" name="Bullets"/>
          <p:cNvSpPr txBox="1"/>
          <p:nvPr/>
        </p:nvSpPr>
        <p:spPr>
          <a:xfrm>
            <a:off x="4617720" y="2240280"/>
            <a:ext cx="3383280" cy="16459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Farmers photograph moths in traps; the app counts them and sends spray advice</a:t>
            </a:r>
            <a:endParaRPr lang="en-US" sz="1400" dirty="0"/>
          </a:p>
          <a:p>
            <a:pPr marL="177800" indent="-177800">
              <a:spcAft>
                <a:spcPts val="300"/>
              </a:spcAft>
              <a:buSzPct val="100000"/>
              <a:buChar char="•"/>
            </a:pPr>
            <a:r>
              <a:rPr lang="en-US" sz="1400" dirty="0">
                <a:solidFill>
                  <a:schemeClr val="tx1"/>
                </a:solidFill>
              </a:rPr>
              <a:t>Karnataka 2020: 15.3 vs 13.1 quintals per acre, about 17% more</a:t>
            </a:r>
            <a:endParaRPr lang="en-US" sz="1400" dirty="0"/>
          </a:p>
          <a:p>
            <a:pPr marL="177800" indent="-177800">
              <a:spcAft>
                <a:spcPts val="300"/>
              </a:spcAft>
              <a:buSzPct val="100000"/>
              <a:buChar char="•"/>
            </a:pPr>
            <a:r>
              <a:rPr lang="en-US" sz="1400" dirty="0">
                <a:solidFill>
                  <a:schemeClr val="tx1"/>
                </a:solidFill>
              </a:rPr>
              <a:t>2021-22 trial: no significant gain, because heavy rain meant few pests</a:t>
            </a:r>
            <a:endParaRPr lang="en-US" sz="1400" dirty="0"/>
          </a:p>
        </p:txBody>
      </p:sp>
      <p:sp>
        <p:nvSpPr>
          <p:cNvPr id="16" name="Deere card"/>
          <p:cNvSpPr/>
          <p:nvPr/>
        </p:nvSpPr>
        <p:spPr>
          <a:xfrm>
            <a:off x="4434840" y="3931920"/>
            <a:ext cx="3703320" cy="2194560"/>
          </a:xfrm>
          <a:prstGeom prst="roundRect">
            <a:avLst>
              <a:gd name="adj" fmla="val 4167"/>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17" name="Icon circle"/>
          <p:cNvSpPr/>
          <p:nvPr/>
        </p:nvSpPr>
        <p:spPr>
          <a:xfrm>
            <a:off x="4617720" y="4041648"/>
            <a:ext cx="420624" cy="420624"/>
          </a:xfrm>
          <a:prstGeom prst="ellipse">
            <a:avLst/>
          </a:prstGeom>
          <a:solidFill>
            <a:schemeClr val="accent3"/>
          </a:solidFill>
          <a:ln w="12700">
            <a:solidFill>
              <a:schemeClr val="accent3"/>
            </a:solidFill>
            <a:prstDash val="solid"/>
          </a:ln>
        </p:spPr>
      </p:sp>
      <p:pic>
        <p:nvPicPr>
          <p:cNvPr id="18" name="Image 2" descr="icon">    </p:cNvPr>
          <p:cNvPicPr>
            <a:picLocks noChangeAspect="1"/>
          </p:cNvPicPr>
          <p:nvPr/>
        </p:nvPicPr>
        <p:blipFill>
          <a:blip r:embed="rId4"/>
          <a:stretch>
            <a:fillRect/>
          </a:stretch>
        </p:blipFill>
        <p:spPr>
          <a:xfrm>
            <a:off x="4710257" y="4134185"/>
            <a:ext cx="235549" cy="235549"/>
          </a:xfrm>
          <a:prstGeom prst="rect">
            <a:avLst/>
          </a:prstGeom>
        </p:spPr>
      </p:pic>
      <p:sp>
        <p:nvSpPr>
          <p:cNvPr id="19" name="Card header"/>
          <p:cNvSpPr txBox="1"/>
          <p:nvPr/>
        </p:nvSpPr>
        <p:spPr>
          <a:xfrm>
            <a:off x="5166360" y="402336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Weed control: John Deere</a:t>
            </a:r>
            <a:endParaRPr lang="en-US" sz="1700" dirty="0"/>
          </a:p>
        </p:txBody>
      </p:sp>
      <p:sp>
        <p:nvSpPr>
          <p:cNvPr id="20" name="Bullets"/>
          <p:cNvSpPr txBox="1"/>
          <p:nvPr/>
        </p:nvSpPr>
        <p:spPr>
          <a:xfrm>
            <a:off x="4617720" y="4590288"/>
            <a:ext cx="3383280" cy="146304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See &amp; Spray uses cameras and on-board AI to spray only weeds</a:t>
            </a:r>
            <a:endParaRPr lang="en-US" sz="1400" dirty="0"/>
          </a:p>
          <a:p>
            <a:pPr marL="177800" indent="-177800">
              <a:spcAft>
                <a:spcPts val="300"/>
              </a:spcAft>
              <a:buSzPct val="100000"/>
              <a:buChar char="•"/>
            </a:pPr>
            <a:r>
              <a:rPr lang="en-US" sz="1400" dirty="0">
                <a:solidFill>
                  <a:schemeClr val="tx1"/>
                </a:solidFill>
              </a:rPr>
              <a:t>2025: 5 million+ acres, herbicide down nearly 50% (company-reported)</a:t>
            </a:r>
            <a:endParaRPr lang="en-US" sz="1400" dirty="0"/>
          </a:p>
          <a:p>
            <a:pPr marL="177800" indent="-177800">
              <a:spcAft>
                <a:spcPts val="300"/>
              </a:spcAft>
              <a:buSzPct val="100000"/>
              <a:buChar char="•"/>
            </a:pPr>
            <a:r>
              <a:rPr lang="en-US" sz="1400" dirty="0">
                <a:solidFill>
                  <a:schemeClr val="tx1"/>
                </a:solidFill>
              </a:rPr>
              <a:t>Our view: small farms need shared machines</a:t>
            </a:r>
            <a:endParaRPr lang="en-US" sz="1400" dirty="0"/>
          </a:p>
        </p:txBody>
      </p:sp>
      <p:sp>
        <p:nvSpPr>
          <p:cNvPr id="21" name="Course concepts panel"/>
          <p:cNvSpPr/>
          <p:nvPr/>
        </p:nvSpPr>
        <p:spPr>
          <a:xfrm>
            <a:off x="8458200" y="1600200"/>
            <a:ext cx="3182112" cy="4526280"/>
          </a:xfrm>
          <a:prstGeom prst="roundRect">
            <a:avLst>
              <a:gd name="adj" fmla="val 2874"/>
            </a:avLst>
          </a:prstGeom>
          <a:solidFill>
            <a:schemeClr val="bg2"/>
          </a:solidFill>
          <a:ln w="12700">
            <a:solidFill>
              <a:schemeClr val="accent6"/>
            </a:solidFill>
            <a:prstDash val="solid"/>
          </a:ln>
        </p:spPr>
      </p:sp>
      <p:sp>
        <p:nvSpPr>
          <p:cNvPr id="22" name="Icon circle"/>
          <p:cNvSpPr/>
          <p:nvPr/>
        </p:nvSpPr>
        <p:spPr>
          <a:xfrm>
            <a:off x="8641080" y="1755648"/>
            <a:ext cx="402336" cy="402336"/>
          </a:xfrm>
          <a:prstGeom prst="ellipse">
            <a:avLst/>
          </a:prstGeom>
          <a:solidFill>
            <a:schemeClr val="accent1"/>
          </a:solidFill>
          <a:ln w="12700">
            <a:solidFill>
              <a:schemeClr val="accent1"/>
            </a:solidFill>
            <a:prstDash val="solid"/>
          </a:ln>
        </p:spPr>
      </p:sp>
      <p:pic>
        <p:nvPicPr>
          <p:cNvPr id="23" name="Image 3" descr="icon">    </p:cNvPr>
          <p:cNvPicPr>
            <a:picLocks noChangeAspect="1"/>
          </p:cNvPicPr>
          <p:nvPr/>
        </p:nvPicPr>
        <p:blipFill>
          <a:blip r:embed="rId5"/>
          <a:stretch>
            <a:fillRect/>
          </a:stretch>
        </p:blipFill>
        <p:spPr>
          <a:xfrm>
            <a:off x="8729594" y="1844162"/>
            <a:ext cx="225308" cy="225308"/>
          </a:xfrm>
          <a:prstGeom prst="rect">
            <a:avLst/>
          </a:prstGeom>
        </p:spPr>
      </p:pic>
      <p:sp>
        <p:nvSpPr>
          <p:cNvPr id="24" name="Panel header"/>
          <p:cNvSpPr txBox="1"/>
          <p:nvPr/>
        </p:nvSpPr>
        <p:spPr>
          <a:xfrm>
            <a:off x="9153144" y="1728216"/>
            <a:ext cx="2359152" cy="457200"/>
          </a:xfrm>
          <a:prstGeom prst="rect">
            <a:avLst/>
          </a:prstGeom>
          <a:noFill/>
          <a:ln/>
        </p:spPr>
        <p:txBody>
          <a:bodyPr wrap="square" lIns="0" tIns="0" rIns="0" bIns="0" rtlCol="0" anchor="ctr"/>
          <a:lstStyle/>
          <a:p>
            <a:pPr indent="0" marL="0">
              <a:buNone/>
            </a:pPr>
            <a:r>
              <a:rPr lang="en-US" sz="1600" b="1" dirty="0">
                <a:solidFill>
                  <a:schemeClr val="tx2"/>
                </a:solidFill>
              </a:rPr>
              <a:t>Course concepts applied</a:t>
            </a:r>
            <a:endParaRPr lang="en-US" sz="1600" dirty="0"/>
          </a:p>
        </p:txBody>
      </p:sp>
      <p:sp>
        <p:nvSpPr>
          <p:cNvPr id="25" name="Course concepts list"/>
          <p:cNvSpPr txBox="1"/>
          <p:nvPr/>
        </p:nvSpPr>
        <p:spPr>
          <a:xfrm>
            <a:off x="8659368" y="2350008"/>
            <a:ext cx="2779776" cy="3657600"/>
          </a:xfrm>
          <a:prstGeom prst="rect">
            <a:avLst/>
          </a:prstGeom>
          <a:noFill/>
          <a:ln/>
        </p:spPr>
        <p:txBody>
          <a:bodyPr wrap="square" lIns="0" tIns="0" rIns="0" bIns="0" rtlCol="0" anchor="t"/>
          <a:lstStyle/>
          <a:p>
            <a:pPr indent="0" marL="0">
              <a:buNone/>
            </a:pPr>
            <a:r>
              <a:rPr lang="en-US" sz="1400" b="1" dirty="0">
                <a:solidFill>
                  <a:schemeClr val="accent1"/>
                </a:solidFill>
              </a:rPr>
              <a:t>Classification + CNN</a:t>
            </a:r>
            <a:endParaRPr lang="en-US" sz="1400" dirty="0"/>
          </a:p>
          <a:p>
            <a:pPr indent="0" marL="0">
              <a:buNone/>
            </a:pPr>
            <a:r>
              <a:rPr lang="en-US" sz="1400" dirty="0">
                <a:solidFill>
                  <a:schemeClr val="tx1"/>
                </a:solidFill>
              </a:rPr>
              <a:t>Labelled leaf photos teach a model to name the disease.</a:t>
            </a:r>
            <a:endParaRPr lang="en-US" sz="1400" dirty="0"/>
          </a:p>
          <a:p>
            <a:pPr indent="0" marL="0">
              <a:spcBef>
                <a:spcPts val="1300"/>
              </a:spcBef>
              <a:buNone/>
            </a:pPr>
            <a:r>
              <a:rPr lang="en-US" sz="1400" b="1" dirty="0">
                <a:solidFill>
                  <a:schemeClr val="accent1"/>
                </a:solidFill>
              </a:rPr>
              <a:t>Overfitting</a:t>
            </a:r>
            <a:endParaRPr lang="en-US" sz="1400" dirty="0"/>
          </a:p>
          <a:p>
            <a:pPr indent="0" marL="0">
              <a:buNone/>
            </a:pPr>
            <a:r>
              <a:rPr lang="en-US" sz="1400" dirty="0">
                <a:solidFill>
                  <a:schemeClr val="tx1"/>
                </a:solidFill>
              </a:rPr>
              <a:t>High train, low test accuracy (course: 95% vs 72%). Always test on field data.</a:t>
            </a:r>
            <a:endParaRPr lang="en-US" sz="1400" dirty="0"/>
          </a:p>
          <a:p>
            <a:pPr indent="0" marL="0">
              <a:spcBef>
                <a:spcPts val="1300"/>
              </a:spcBef>
              <a:buNone/>
            </a:pPr>
            <a:r>
              <a:rPr lang="en-US" sz="1400" b="1" dirty="0">
                <a:solidFill>
                  <a:schemeClr val="accent1"/>
                </a:solidFill>
              </a:rPr>
              <a:t>Precision vs recall</a:t>
            </a:r>
            <a:endParaRPr lang="en-US" sz="1400" dirty="0"/>
          </a:p>
          <a:p>
            <a:pPr indent="0" marL="0">
              <a:buNone/>
            </a:pPr>
            <a:r>
              <a:rPr lang="en-US" sz="1400" dirty="0">
                <a:solidFill>
                  <a:schemeClr val="tx1"/>
                </a:solidFill>
              </a:rPr>
              <a:t>A missed outbreak costs more than a false alarm, so tune the threshold.</a:t>
            </a:r>
            <a:endParaRPr lang="en-US" sz="1400" dirty="0"/>
          </a:p>
          <a:p>
            <a:pPr indent="0" marL="0">
              <a:spcBef>
                <a:spcPts val="1300"/>
              </a:spcBef>
              <a:buNone/>
            </a:pPr>
            <a:r>
              <a:rPr lang="en-US" sz="1400" b="1" dirty="0">
                <a:solidFill>
                  <a:schemeClr val="accent1"/>
                </a:solidFill>
              </a:rPr>
              <a:t>Abductive reasoning</a:t>
            </a:r>
            <a:endParaRPr lang="en-US" sz="1400" dirty="0"/>
          </a:p>
          <a:p>
            <a:pPr indent="0" marL="0">
              <a:buNone/>
            </a:pPr>
            <a:r>
              <a:rPr lang="en-US" sz="1400" dirty="0">
                <a:solidFill>
                  <a:schemeClr val="tx1"/>
                </a:solidFill>
              </a:rPr>
              <a:t>Best explanation for symptoms: root cause analysis.</a:t>
            </a:r>
            <a:endParaRPr lang="en-US" sz="1400" dirty="0"/>
          </a:p>
        </p:txBody>
      </p:sp>
      <p:sp>
        <p:nvSpPr>
          <p:cNvPr id="26" name="Sources"/>
          <p:cNvSpPr txBox="1"/>
          <p:nvPr/>
        </p:nvSpPr>
        <p:spPr>
          <a:xfrm>
            <a:off x="548640" y="6382512"/>
            <a:ext cx="10515600" cy="310896"/>
          </a:xfrm>
          <a:prstGeom prst="rect">
            <a:avLst/>
          </a:prstGeom>
          <a:noFill/>
          <a:ln/>
        </p:spPr>
        <p:txBody>
          <a:bodyPr wrap="square" lIns="0" tIns="0" rIns="0" bIns="0" rtlCol="0" anchor="ctr"/>
          <a:lstStyle/>
          <a:p>
            <a:pPr algn="l" indent="0" marL="0">
              <a:buNone/>
            </a:pPr>
            <a:r>
              <a:rPr lang="en-US" sz="1000" dirty="0">
                <a:solidFill>
                  <a:srgbClr val="5E6B63"/>
                </a:solidFill>
              </a:rPr>
              <a:t>Sources: Mohanty et al. (2016); Ghate and Kulkarni (2024, preprint); Deere and Company (2025); FAO (2021).</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lide title"/>
          <p:cNvSpPr txBox="1"/>
          <p:nvPr/>
        </p:nvSpPr>
        <p:spPr>
          <a:xfrm>
            <a:off x="548640" y="320040"/>
            <a:ext cx="11091672" cy="640080"/>
          </a:xfrm>
          <a:prstGeom prst="rect">
            <a:avLst/>
          </a:prstGeom>
          <a:noFill/>
          <a:ln/>
        </p:spPr>
        <p:txBody>
          <a:bodyPr wrap="square" lIns="0" tIns="0" rIns="0" bIns="0" rtlCol="0" anchor="ctr">
            <a:normAutofit/>
          </a:bodyPr>
          <a:lstStyle/>
          <a:p>
            <a:pPr algn="l" indent="0" marL="0">
              <a:buNone/>
            </a:pPr>
            <a:r>
              <a:rPr lang="en-US" sz="2800" b="1" dirty="0">
                <a:solidFill>
                  <a:schemeClr val="tx2"/>
                </a:solidFill>
              </a:rPr>
              <a:t>3. Yield prediction: knowing the harvest early</a:t>
            </a:r>
            <a:endParaRPr lang="en-US" sz="2800" dirty="0"/>
          </a:p>
        </p:txBody>
      </p:sp>
      <p:sp>
        <p:nvSpPr>
          <p:cNvPr id="3" name="Subtitle"/>
          <p:cNvSpPr txBox="1"/>
          <p:nvPr/>
        </p:nvSpPr>
        <p:spPr>
          <a:xfrm>
            <a:off x="548640" y="987552"/>
            <a:ext cx="11091672" cy="365760"/>
          </a:xfrm>
          <a:prstGeom prst="rect">
            <a:avLst/>
          </a:prstGeom>
          <a:noFill/>
          <a:ln/>
        </p:spPr>
        <p:txBody>
          <a:bodyPr wrap="square" lIns="0" tIns="0" rIns="0" bIns="0" rtlCol="0" anchor="t"/>
          <a:lstStyle/>
          <a:p>
            <a:pPr algn="l" indent="0" marL="0">
              <a:buNone/>
            </a:pPr>
            <a:r>
              <a:rPr lang="en-US" sz="1600" dirty="0">
                <a:solidFill>
                  <a:srgbClr val="5E6B63"/>
                </a:solidFill>
              </a:rPr>
              <a:t>Weather, soil, satellite and past-yield data are used to forecast output for a field, village or district.</a:t>
            </a:r>
            <a:endParaRPr lang="en-US" sz="1600" dirty="0"/>
          </a:p>
        </p:txBody>
      </p:sp>
      <p:sp>
        <p:nvSpPr>
          <p:cNvPr id="4" name="How it works card"/>
          <p:cNvSpPr/>
          <p:nvPr/>
        </p:nvSpPr>
        <p:spPr>
          <a:xfrm>
            <a:off x="548640" y="1600200"/>
            <a:ext cx="3703320" cy="4526280"/>
          </a:xfrm>
          <a:prstGeom prst="roundRect">
            <a:avLst>
              <a:gd name="adj" fmla="val 2469"/>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5" name="Icon circle"/>
          <p:cNvSpPr/>
          <p:nvPr/>
        </p:nvSpPr>
        <p:spPr>
          <a:xfrm>
            <a:off x="731520" y="1709928"/>
            <a:ext cx="420624" cy="420624"/>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24057" y="1802465"/>
            <a:ext cx="235549" cy="235549"/>
          </a:xfrm>
          <a:prstGeom prst="rect">
            <a:avLst/>
          </a:prstGeom>
        </p:spPr>
      </p:pic>
      <p:sp>
        <p:nvSpPr>
          <p:cNvPr id="7" name="Card header"/>
          <p:cNvSpPr txBox="1"/>
          <p:nvPr/>
        </p:nvSpPr>
        <p:spPr>
          <a:xfrm>
            <a:off x="1280160" y="169164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How a yield model works</a:t>
            </a:r>
            <a:endParaRPr lang="en-US" sz="1700" dirty="0"/>
          </a:p>
        </p:txBody>
      </p:sp>
      <p:sp>
        <p:nvSpPr>
          <p:cNvPr id="8" name="Step circle"/>
          <p:cNvSpPr/>
          <p:nvPr/>
        </p:nvSpPr>
        <p:spPr>
          <a:xfrm>
            <a:off x="749808" y="2331720"/>
            <a:ext cx="347472" cy="347472"/>
          </a:xfrm>
          <a:prstGeom prst="ellipse">
            <a:avLst/>
          </a:prstGeom>
          <a:solidFill>
            <a:schemeClr val="accent2"/>
          </a:solidFill>
          <a:ln w="12700">
            <a:solidFill>
              <a:schemeClr val="accent2"/>
            </a:solidFill>
            <a:prstDash val="solid"/>
          </a:ln>
        </p:spPr>
      </p:sp>
      <p:sp>
        <p:nvSpPr>
          <p:cNvPr id="9" name="Step number"/>
          <p:cNvSpPr txBox="1"/>
          <p:nvPr/>
        </p:nvSpPr>
        <p:spPr>
          <a:xfrm>
            <a:off x="749808" y="233172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0" name="Step text"/>
          <p:cNvSpPr txBox="1"/>
          <p:nvPr/>
        </p:nvSpPr>
        <p:spPr>
          <a:xfrm>
            <a:off x="1234440" y="2295144"/>
            <a:ext cx="2880360" cy="1005840"/>
          </a:xfrm>
          <a:prstGeom prst="rect">
            <a:avLst/>
          </a:prstGeom>
          <a:noFill/>
          <a:ln/>
        </p:spPr>
        <p:txBody>
          <a:bodyPr wrap="square" lIns="0" tIns="0" rIns="0" bIns="0" rtlCol="0" anchor="t"/>
          <a:lstStyle/>
          <a:p>
            <a:pPr indent="0" marL="0">
              <a:buNone/>
            </a:pPr>
            <a:r>
              <a:rPr lang="en-US" sz="1400" b="1" dirty="0">
                <a:solidFill>
                  <a:schemeClr val="tx2"/>
                </a:solidFill>
              </a:rPr>
              <a:t>Collect</a:t>
            </a:r>
            <a:endParaRPr lang="en-US" sz="1400" dirty="0"/>
          </a:p>
          <a:p>
            <a:pPr indent="0" marL="0">
              <a:buNone/>
            </a:pPr>
            <a:r>
              <a:rPr lang="en-US" sz="1400" dirty="0">
                <a:solidFill>
                  <a:schemeClr val="tx1"/>
                </a:solidFill>
              </a:rPr>
              <a:t>Weather, soil, satellite indices, sowing dates and past yields.</a:t>
            </a:r>
            <a:endParaRPr lang="en-US" sz="1400" dirty="0"/>
          </a:p>
        </p:txBody>
      </p:sp>
      <p:sp>
        <p:nvSpPr>
          <p:cNvPr id="11" name="Step circle"/>
          <p:cNvSpPr/>
          <p:nvPr/>
        </p:nvSpPr>
        <p:spPr>
          <a:xfrm>
            <a:off x="749808" y="3108960"/>
            <a:ext cx="347472" cy="347472"/>
          </a:xfrm>
          <a:prstGeom prst="ellipse">
            <a:avLst/>
          </a:prstGeom>
          <a:solidFill>
            <a:schemeClr val="accent2"/>
          </a:solidFill>
          <a:ln w="12700">
            <a:solidFill>
              <a:schemeClr val="accent2"/>
            </a:solidFill>
            <a:prstDash val="solid"/>
          </a:ln>
        </p:spPr>
      </p:sp>
      <p:sp>
        <p:nvSpPr>
          <p:cNvPr id="12" name="Step number"/>
          <p:cNvSpPr txBox="1"/>
          <p:nvPr/>
        </p:nvSpPr>
        <p:spPr>
          <a:xfrm>
            <a:off x="749808" y="310896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Step text"/>
          <p:cNvSpPr txBox="1"/>
          <p:nvPr/>
        </p:nvSpPr>
        <p:spPr>
          <a:xfrm>
            <a:off x="1234440" y="3072384"/>
            <a:ext cx="2880360" cy="1005840"/>
          </a:xfrm>
          <a:prstGeom prst="rect">
            <a:avLst/>
          </a:prstGeom>
          <a:noFill/>
          <a:ln/>
        </p:spPr>
        <p:txBody>
          <a:bodyPr wrap="square" lIns="0" tIns="0" rIns="0" bIns="0" rtlCol="0" anchor="t"/>
          <a:lstStyle/>
          <a:p>
            <a:pPr indent="0" marL="0">
              <a:buNone/>
            </a:pPr>
            <a:r>
              <a:rPr lang="en-US" sz="1400" b="1" dirty="0">
                <a:solidFill>
                  <a:schemeClr val="tx2"/>
                </a:solidFill>
              </a:rPr>
              <a:t>Train</a:t>
            </a:r>
            <a:endParaRPr lang="en-US" sz="1400" dirty="0"/>
          </a:p>
          <a:p>
            <a:pPr indent="0" marL="0">
              <a:buNone/>
            </a:pPr>
            <a:r>
              <a:rPr lang="en-US" sz="1400" dirty="0">
                <a:solidFill>
                  <a:schemeClr val="tx1"/>
                </a:solidFill>
              </a:rPr>
              <a:t>A supervised model learns the link between inputs and yield. CNNs and LSTMs are the most used deep models in a review of 30 studies.</a:t>
            </a:r>
            <a:endParaRPr lang="en-US" sz="1400" dirty="0"/>
          </a:p>
        </p:txBody>
      </p:sp>
      <p:sp>
        <p:nvSpPr>
          <p:cNvPr id="14" name="Step circle"/>
          <p:cNvSpPr/>
          <p:nvPr/>
        </p:nvSpPr>
        <p:spPr>
          <a:xfrm>
            <a:off x="749808" y="4297680"/>
            <a:ext cx="347472" cy="347472"/>
          </a:xfrm>
          <a:prstGeom prst="ellipse">
            <a:avLst/>
          </a:prstGeom>
          <a:solidFill>
            <a:schemeClr val="accent2"/>
          </a:solidFill>
          <a:ln w="12700">
            <a:solidFill>
              <a:schemeClr val="accent2"/>
            </a:solidFill>
            <a:prstDash val="solid"/>
          </a:ln>
        </p:spPr>
      </p:sp>
      <p:sp>
        <p:nvSpPr>
          <p:cNvPr id="15" name="Step number"/>
          <p:cNvSpPr txBox="1"/>
          <p:nvPr/>
        </p:nvSpPr>
        <p:spPr>
          <a:xfrm>
            <a:off x="749808" y="429768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Step text"/>
          <p:cNvSpPr txBox="1"/>
          <p:nvPr/>
        </p:nvSpPr>
        <p:spPr>
          <a:xfrm>
            <a:off x="1234440" y="4261104"/>
            <a:ext cx="2880360" cy="1005840"/>
          </a:xfrm>
          <a:prstGeom prst="rect">
            <a:avLst/>
          </a:prstGeom>
          <a:noFill/>
          <a:ln/>
        </p:spPr>
        <p:txBody>
          <a:bodyPr wrap="square" lIns="0" tIns="0" rIns="0" bIns="0" rtlCol="0" anchor="t"/>
          <a:lstStyle/>
          <a:p>
            <a:pPr indent="0" marL="0">
              <a:buNone/>
            </a:pPr>
            <a:r>
              <a:rPr lang="en-US" sz="1400" b="1" dirty="0">
                <a:solidFill>
                  <a:schemeClr val="tx2"/>
                </a:solidFill>
              </a:rPr>
              <a:t>Forecast with a range</a:t>
            </a:r>
            <a:endParaRPr lang="en-US" sz="1400" dirty="0"/>
          </a:p>
          <a:p>
            <a:pPr indent="0" marL="0">
              <a:buNone/>
            </a:pPr>
            <a:r>
              <a:rPr lang="en-US" sz="1400" dirty="0">
                <a:solidFill>
                  <a:schemeClr val="tx1"/>
                </a:solidFill>
              </a:rPr>
              <a:t>A likely band, not one number, so farmers can plan for risk.</a:t>
            </a:r>
            <a:endParaRPr lang="en-US" sz="1400" dirty="0"/>
          </a:p>
        </p:txBody>
      </p:sp>
      <p:sp>
        <p:nvSpPr>
          <p:cNvPr id="17" name="Step circle"/>
          <p:cNvSpPr/>
          <p:nvPr/>
        </p:nvSpPr>
        <p:spPr>
          <a:xfrm>
            <a:off x="749808" y="5120640"/>
            <a:ext cx="347472" cy="347472"/>
          </a:xfrm>
          <a:prstGeom prst="ellipse">
            <a:avLst/>
          </a:prstGeom>
          <a:solidFill>
            <a:schemeClr val="accent2"/>
          </a:solidFill>
          <a:ln w="12700">
            <a:solidFill>
              <a:schemeClr val="accent2"/>
            </a:solidFill>
            <a:prstDash val="solid"/>
          </a:ln>
        </p:spPr>
      </p:sp>
      <p:sp>
        <p:nvSpPr>
          <p:cNvPr id="18" name="Step number"/>
          <p:cNvSpPr txBox="1"/>
          <p:nvPr/>
        </p:nvSpPr>
        <p:spPr>
          <a:xfrm>
            <a:off x="749808" y="512064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9" name="Step text"/>
          <p:cNvSpPr txBox="1"/>
          <p:nvPr/>
        </p:nvSpPr>
        <p:spPr>
          <a:xfrm>
            <a:off x="1234440" y="5084064"/>
            <a:ext cx="2880360" cy="1005840"/>
          </a:xfrm>
          <a:prstGeom prst="rect">
            <a:avLst/>
          </a:prstGeom>
          <a:noFill/>
          <a:ln/>
        </p:spPr>
        <p:txBody>
          <a:bodyPr wrap="square" lIns="0" tIns="0" rIns="0" bIns="0" rtlCol="0" anchor="t"/>
          <a:lstStyle/>
          <a:p>
            <a:pPr indent="0" marL="0">
              <a:buNone/>
            </a:pPr>
            <a:r>
              <a:rPr lang="en-US" sz="1400" b="1" dirty="0">
                <a:solidFill>
                  <a:schemeClr val="tx2"/>
                </a:solidFill>
              </a:rPr>
              <a:t>Act</a:t>
            </a:r>
            <a:endParaRPr lang="en-US" sz="1400" dirty="0"/>
          </a:p>
          <a:p>
            <a:pPr indent="0" marL="0">
              <a:buNone/>
            </a:pPr>
            <a:r>
              <a:rPr lang="en-US" sz="1400" dirty="0">
                <a:solidFill>
                  <a:schemeClr val="tx1"/>
                </a:solidFill>
              </a:rPr>
              <a:t>Crop choice, input plan, insurance claim and selling plan.</a:t>
            </a:r>
            <a:endParaRPr lang="en-US" sz="1400" dirty="0"/>
          </a:p>
        </p:txBody>
      </p:sp>
      <p:sp>
        <p:nvSpPr>
          <p:cNvPr id="20" name="YES-TECH card"/>
          <p:cNvSpPr/>
          <p:nvPr/>
        </p:nvSpPr>
        <p:spPr>
          <a:xfrm>
            <a:off x="4434840" y="1600200"/>
            <a:ext cx="3703320" cy="2423160"/>
          </a:xfrm>
          <a:prstGeom prst="roundRect">
            <a:avLst>
              <a:gd name="adj" fmla="val 3774"/>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21" name="Icon circle"/>
          <p:cNvSpPr/>
          <p:nvPr/>
        </p:nvSpPr>
        <p:spPr>
          <a:xfrm>
            <a:off x="4617720" y="1709928"/>
            <a:ext cx="420624" cy="420624"/>
          </a:xfrm>
          <a:prstGeom prst="ellipse">
            <a:avLst/>
          </a:prstGeom>
          <a:solidFill>
            <a:schemeClr val="accent1"/>
          </a:solidFill>
          <a:ln w="12700">
            <a:solidFill>
              <a:schemeClr val="accent1"/>
            </a:solidFill>
            <a:prstDash val="solid"/>
          </a:ln>
        </p:spPr>
      </p:sp>
      <p:pic>
        <p:nvPicPr>
          <p:cNvPr id="22" name="Image 1" descr="icon">    </p:cNvPr>
          <p:cNvPicPr>
            <a:picLocks noChangeAspect="1"/>
          </p:cNvPicPr>
          <p:nvPr/>
        </p:nvPicPr>
        <p:blipFill>
          <a:blip r:embed="rId2"/>
          <a:stretch>
            <a:fillRect/>
          </a:stretch>
        </p:blipFill>
        <p:spPr>
          <a:xfrm>
            <a:off x="4710257" y="1802465"/>
            <a:ext cx="235549" cy="235549"/>
          </a:xfrm>
          <a:prstGeom prst="rect">
            <a:avLst/>
          </a:prstGeom>
        </p:spPr>
      </p:pic>
      <p:sp>
        <p:nvSpPr>
          <p:cNvPr id="23" name="Card header"/>
          <p:cNvSpPr txBox="1"/>
          <p:nvPr/>
        </p:nvSpPr>
        <p:spPr>
          <a:xfrm>
            <a:off x="5166360" y="169164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In India: YES-TECH</a:t>
            </a:r>
            <a:endParaRPr lang="en-US" sz="1700" dirty="0"/>
          </a:p>
        </p:txBody>
      </p:sp>
      <p:sp>
        <p:nvSpPr>
          <p:cNvPr id="24" name="Bullets"/>
          <p:cNvSpPr txBox="1"/>
          <p:nvPr/>
        </p:nvSpPr>
        <p:spPr>
          <a:xfrm>
            <a:off x="4617720" y="2240280"/>
            <a:ext cx="3383280" cy="17373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Since July 2023, PM Fasal Bima Yojana uses satellite and weather models alongside crop-cutting experiments</a:t>
            </a:r>
            <a:endParaRPr lang="en-US" sz="1400" dirty="0"/>
          </a:p>
          <a:p>
            <a:pPr marL="177800" indent="-177800">
              <a:spcAft>
                <a:spcPts val="400"/>
              </a:spcAft>
              <a:buSzPct val="100000"/>
              <a:buChar char="•"/>
            </a:pPr>
            <a:r>
              <a:rPr lang="en-US" sz="1400" dirty="0">
                <a:solidFill>
                  <a:schemeClr val="tx1"/>
                </a:solidFill>
              </a:rPr>
              <a:t>Insurers back it; Madhya Pradesh stakeholders had mixed views</a:t>
            </a:r>
            <a:endParaRPr lang="en-US" sz="1400" dirty="0"/>
          </a:p>
          <a:p>
            <a:pPr marL="177800" indent="-177800">
              <a:spcAft>
                <a:spcPts val="400"/>
              </a:spcAft>
              <a:buSzPct val="100000"/>
              <a:buChar char="•"/>
            </a:pPr>
            <a:r>
              <a:rPr lang="en-US" sz="1400" dirty="0">
                <a:solidFill>
                  <a:schemeClr val="tx1"/>
                </a:solidFill>
              </a:rPr>
              <a:t>Watch-out: right on average is not right for every village</a:t>
            </a:r>
            <a:endParaRPr lang="en-US" sz="1400" dirty="0"/>
          </a:p>
        </p:txBody>
      </p:sp>
      <p:sp>
        <p:nvSpPr>
          <p:cNvPr id="25" name="Bayes card"/>
          <p:cNvSpPr/>
          <p:nvPr/>
        </p:nvSpPr>
        <p:spPr>
          <a:xfrm>
            <a:off x="4434840" y="4160520"/>
            <a:ext cx="3703320" cy="1965960"/>
          </a:xfrm>
          <a:prstGeom prst="roundRect">
            <a:avLst>
              <a:gd name="adj" fmla="val 4651"/>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26" name="Icon circle"/>
          <p:cNvSpPr/>
          <p:nvPr/>
        </p:nvSpPr>
        <p:spPr>
          <a:xfrm>
            <a:off x="4617720" y="4270248"/>
            <a:ext cx="420624" cy="420624"/>
          </a:xfrm>
          <a:prstGeom prst="ellipse">
            <a:avLst/>
          </a:prstGeom>
          <a:solidFill>
            <a:schemeClr val="accent2"/>
          </a:solidFill>
          <a:ln w="12700">
            <a:solidFill>
              <a:schemeClr val="accent2"/>
            </a:solidFill>
            <a:prstDash val="solid"/>
          </a:ln>
        </p:spPr>
      </p:sp>
      <p:pic>
        <p:nvPicPr>
          <p:cNvPr id="27" name="Image 2" descr="icon">    </p:cNvPr>
          <p:cNvPicPr>
            <a:picLocks noChangeAspect="1"/>
          </p:cNvPicPr>
          <p:nvPr/>
        </p:nvPicPr>
        <p:blipFill>
          <a:blip r:embed="rId3"/>
          <a:stretch>
            <a:fillRect/>
          </a:stretch>
        </p:blipFill>
        <p:spPr>
          <a:xfrm>
            <a:off x="4710257" y="4362785"/>
            <a:ext cx="235549" cy="235549"/>
          </a:xfrm>
          <a:prstGeom prst="rect">
            <a:avLst/>
          </a:prstGeom>
        </p:spPr>
      </p:pic>
      <p:sp>
        <p:nvSpPr>
          <p:cNvPr id="28" name="Card header"/>
          <p:cNvSpPr txBox="1"/>
          <p:nvPr/>
        </p:nvSpPr>
        <p:spPr>
          <a:xfrm>
            <a:off x="5166360" y="425196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Bayes in action</a:t>
            </a:r>
            <a:endParaRPr lang="en-US" sz="1700" dirty="0"/>
          </a:p>
        </p:txBody>
      </p:sp>
      <p:sp>
        <p:nvSpPr>
          <p:cNvPr id="29" name="Bayes row"/>
          <p:cNvSpPr txBox="1"/>
          <p:nvPr/>
        </p:nvSpPr>
        <p:spPr>
          <a:xfrm>
            <a:off x="4617720" y="4800600"/>
            <a:ext cx="3383280" cy="384048"/>
          </a:xfrm>
          <a:prstGeom prst="rect">
            <a:avLst/>
          </a:prstGeom>
          <a:noFill/>
          <a:ln/>
        </p:spPr>
        <p:txBody>
          <a:bodyPr wrap="square" lIns="0" tIns="0" rIns="0" bIns="0" rtlCol="0" anchor="ctr"/>
          <a:lstStyle/>
          <a:p>
            <a:pPr indent="0" marL="0">
              <a:buNone/>
            </a:pPr>
            <a:r>
              <a:rPr lang="en-US" sz="1400" b="1" dirty="0">
                <a:solidFill>
                  <a:schemeClr val="accent1"/>
                </a:solidFill>
              </a:rPr>
              <a:t>Prior: </a:t>
            </a:r>
            <a:pPr indent="0" marL="0">
              <a:buNone/>
            </a:pPr>
            <a:r>
              <a:rPr lang="en-US" sz="1400" dirty="0">
                <a:solidFill>
                  <a:schemeClr val="tx1"/>
                </a:solidFill>
              </a:rPr>
              <a:t>monsoon expected to be normal</a:t>
            </a:r>
            <a:endParaRPr lang="en-US" sz="1400" dirty="0"/>
          </a:p>
        </p:txBody>
      </p:sp>
      <p:sp>
        <p:nvSpPr>
          <p:cNvPr id="30" name="Bayes arrow"/>
          <p:cNvSpPr/>
          <p:nvPr/>
        </p:nvSpPr>
        <p:spPr>
          <a:xfrm>
            <a:off x="7726680" y="5056632"/>
            <a:ext cx="164592" cy="182880"/>
          </a:xfrm>
          <a:prstGeom prst="downArrow">
            <a:avLst/>
          </a:prstGeom>
          <a:solidFill>
            <a:schemeClr val="accent2"/>
          </a:solidFill>
          <a:ln w="12700">
            <a:solidFill>
              <a:schemeClr val="accent2"/>
            </a:solidFill>
            <a:prstDash val="solid"/>
          </a:ln>
        </p:spPr>
      </p:sp>
      <p:sp>
        <p:nvSpPr>
          <p:cNvPr id="31" name="Bayes row"/>
          <p:cNvSpPr txBox="1"/>
          <p:nvPr/>
        </p:nvSpPr>
        <p:spPr>
          <a:xfrm>
            <a:off x="4617720" y="5212080"/>
            <a:ext cx="3383280" cy="384048"/>
          </a:xfrm>
          <a:prstGeom prst="rect">
            <a:avLst/>
          </a:prstGeom>
          <a:noFill/>
          <a:ln/>
        </p:spPr>
        <p:txBody>
          <a:bodyPr wrap="square" lIns="0" tIns="0" rIns="0" bIns="0" rtlCol="0" anchor="ctr"/>
          <a:lstStyle/>
          <a:p>
            <a:pPr indent="0" marL="0">
              <a:buNone/>
            </a:pPr>
            <a:r>
              <a:rPr lang="en-US" sz="1400" b="1" dirty="0">
                <a:solidFill>
                  <a:schemeClr val="accent1"/>
                </a:solidFill>
              </a:rPr>
              <a:t>Evidence: </a:t>
            </a:r>
            <a:pPr indent="0" marL="0">
              <a:buNone/>
            </a:pPr>
            <a:r>
              <a:rPr lang="en-US" sz="1400" dirty="0">
                <a:solidFill>
                  <a:schemeClr val="tx1"/>
                </a:solidFill>
              </a:rPr>
              <a:t>three dry weeks in a row</a:t>
            </a:r>
            <a:endParaRPr lang="en-US" sz="1400" dirty="0"/>
          </a:p>
        </p:txBody>
      </p:sp>
      <p:sp>
        <p:nvSpPr>
          <p:cNvPr id="32" name="Bayes arrow"/>
          <p:cNvSpPr/>
          <p:nvPr/>
        </p:nvSpPr>
        <p:spPr>
          <a:xfrm>
            <a:off x="7726680" y="5468112"/>
            <a:ext cx="164592" cy="182880"/>
          </a:xfrm>
          <a:prstGeom prst="downArrow">
            <a:avLst/>
          </a:prstGeom>
          <a:solidFill>
            <a:schemeClr val="accent2"/>
          </a:solidFill>
          <a:ln w="12700">
            <a:solidFill>
              <a:schemeClr val="accent2"/>
            </a:solidFill>
            <a:prstDash val="solid"/>
          </a:ln>
        </p:spPr>
      </p:sp>
      <p:sp>
        <p:nvSpPr>
          <p:cNvPr id="33" name="Bayes row"/>
          <p:cNvSpPr txBox="1"/>
          <p:nvPr/>
        </p:nvSpPr>
        <p:spPr>
          <a:xfrm>
            <a:off x="4617720" y="5623560"/>
            <a:ext cx="3383280" cy="384048"/>
          </a:xfrm>
          <a:prstGeom prst="rect">
            <a:avLst/>
          </a:prstGeom>
          <a:noFill/>
          <a:ln/>
        </p:spPr>
        <p:txBody>
          <a:bodyPr wrap="square" lIns="0" tIns="0" rIns="0" bIns="0" rtlCol="0" anchor="ctr"/>
          <a:lstStyle/>
          <a:p>
            <a:pPr indent="0" marL="0">
              <a:buNone/>
            </a:pPr>
            <a:r>
              <a:rPr lang="en-US" sz="1400" b="1" dirty="0">
                <a:solidFill>
                  <a:schemeClr val="accent1"/>
                </a:solidFill>
              </a:rPr>
              <a:t>Posterior: </a:t>
            </a:r>
            <a:pPr indent="0" marL="0">
              <a:buNone/>
            </a:pPr>
            <a:r>
              <a:rPr lang="en-US" sz="1400" dirty="0">
                <a:solidFill>
                  <a:schemeClr val="tx1"/>
                </a:solidFill>
              </a:rPr>
              <a:t>low-yield risk rises, so alert farmers</a:t>
            </a:r>
            <a:endParaRPr lang="en-US" sz="1400" dirty="0"/>
          </a:p>
        </p:txBody>
      </p:sp>
      <p:sp>
        <p:nvSpPr>
          <p:cNvPr id="34" name="Course concepts panel"/>
          <p:cNvSpPr/>
          <p:nvPr/>
        </p:nvSpPr>
        <p:spPr>
          <a:xfrm>
            <a:off x="8458200" y="1600200"/>
            <a:ext cx="3182112" cy="4526280"/>
          </a:xfrm>
          <a:prstGeom prst="roundRect">
            <a:avLst>
              <a:gd name="adj" fmla="val 2874"/>
            </a:avLst>
          </a:prstGeom>
          <a:solidFill>
            <a:schemeClr val="bg2"/>
          </a:solidFill>
          <a:ln w="12700">
            <a:solidFill>
              <a:schemeClr val="accent6"/>
            </a:solidFill>
            <a:prstDash val="solid"/>
          </a:ln>
        </p:spPr>
      </p:sp>
      <p:sp>
        <p:nvSpPr>
          <p:cNvPr id="35" name="Icon circle"/>
          <p:cNvSpPr/>
          <p:nvPr/>
        </p:nvSpPr>
        <p:spPr>
          <a:xfrm>
            <a:off x="8641080" y="1755648"/>
            <a:ext cx="402336" cy="402336"/>
          </a:xfrm>
          <a:prstGeom prst="ellipse">
            <a:avLst/>
          </a:prstGeom>
          <a:solidFill>
            <a:schemeClr val="accent1"/>
          </a:solidFill>
          <a:ln w="12700">
            <a:solidFill>
              <a:schemeClr val="accent1"/>
            </a:solidFill>
            <a:prstDash val="solid"/>
          </a:ln>
        </p:spPr>
      </p:sp>
      <p:pic>
        <p:nvPicPr>
          <p:cNvPr id="36" name="Image 3" descr="icon">    </p:cNvPr>
          <p:cNvPicPr>
            <a:picLocks noChangeAspect="1"/>
          </p:cNvPicPr>
          <p:nvPr/>
        </p:nvPicPr>
        <p:blipFill>
          <a:blip r:embed="rId4"/>
          <a:stretch>
            <a:fillRect/>
          </a:stretch>
        </p:blipFill>
        <p:spPr>
          <a:xfrm>
            <a:off x="8729594" y="1844162"/>
            <a:ext cx="225308" cy="225308"/>
          </a:xfrm>
          <a:prstGeom prst="rect">
            <a:avLst/>
          </a:prstGeom>
        </p:spPr>
      </p:pic>
      <p:sp>
        <p:nvSpPr>
          <p:cNvPr id="37" name="Panel header"/>
          <p:cNvSpPr txBox="1"/>
          <p:nvPr/>
        </p:nvSpPr>
        <p:spPr>
          <a:xfrm>
            <a:off x="9153144" y="1728216"/>
            <a:ext cx="2359152" cy="457200"/>
          </a:xfrm>
          <a:prstGeom prst="rect">
            <a:avLst/>
          </a:prstGeom>
          <a:noFill/>
          <a:ln/>
        </p:spPr>
        <p:txBody>
          <a:bodyPr wrap="square" lIns="0" tIns="0" rIns="0" bIns="0" rtlCol="0" anchor="ctr"/>
          <a:lstStyle/>
          <a:p>
            <a:pPr indent="0" marL="0">
              <a:buNone/>
            </a:pPr>
            <a:r>
              <a:rPr lang="en-US" sz="1600" b="1" dirty="0">
                <a:solidFill>
                  <a:schemeClr val="tx2"/>
                </a:solidFill>
              </a:rPr>
              <a:t>Course concepts applied</a:t>
            </a:r>
            <a:endParaRPr lang="en-US" sz="1600" dirty="0"/>
          </a:p>
        </p:txBody>
      </p:sp>
      <p:sp>
        <p:nvSpPr>
          <p:cNvPr id="38" name="Course concepts list"/>
          <p:cNvSpPr txBox="1"/>
          <p:nvPr/>
        </p:nvSpPr>
        <p:spPr>
          <a:xfrm>
            <a:off x="8659368" y="2350008"/>
            <a:ext cx="2779776" cy="3657600"/>
          </a:xfrm>
          <a:prstGeom prst="rect">
            <a:avLst/>
          </a:prstGeom>
          <a:noFill/>
          <a:ln/>
        </p:spPr>
        <p:txBody>
          <a:bodyPr wrap="square" lIns="0" tIns="0" rIns="0" bIns="0" rtlCol="0" anchor="t"/>
          <a:lstStyle/>
          <a:p>
            <a:pPr indent="0" marL="0">
              <a:buNone/>
            </a:pPr>
            <a:r>
              <a:rPr lang="en-US" sz="1400" b="1" dirty="0">
                <a:solidFill>
                  <a:schemeClr val="accent1"/>
                </a:solidFill>
              </a:rPr>
              <a:t>Regression</a:t>
            </a:r>
            <a:endParaRPr lang="en-US" sz="1400" dirty="0"/>
          </a:p>
          <a:p>
            <a:pPr indent="0" marL="0">
              <a:buNone/>
            </a:pPr>
            <a:r>
              <a:rPr lang="en-US" sz="1400" dirty="0">
                <a:solidFill>
                  <a:schemeClr val="tx1"/>
                </a:solidFill>
              </a:rPr>
              <a:t>Predicts a number (yield) from weather, soil and past data, like a broker pricing a flat.</a:t>
            </a:r>
            <a:endParaRPr lang="en-US" sz="1400" dirty="0"/>
          </a:p>
          <a:p>
            <a:pPr indent="0" marL="0">
              <a:spcBef>
                <a:spcPts val="1300"/>
              </a:spcBef>
              <a:buNone/>
            </a:pPr>
            <a:r>
              <a:rPr lang="en-US" sz="1400" b="1" dirty="0">
                <a:solidFill>
                  <a:schemeClr val="accent1"/>
                </a:solidFill>
              </a:rPr>
              <a:t>RNN / LSTM</a:t>
            </a:r>
            <a:endParaRPr lang="en-US" sz="1400" dirty="0"/>
          </a:p>
          <a:p>
            <a:pPr indent="0" marL="0">
              <a:buNone/>
            </a:pPr>
            <a:r>
              <a:rPr lang="en-US" sz="1400" dirty="0">
                <a:solidFill>
                  <a:schemeClr val="tx1"/>
                </a:solidFill>
              </a:rPr>
              <a:t>Memory of earlier steps suits seasonal time series.</a:t>
            </a:r>
            <a:endParaRPr lang="en-US" sz="1400" dirty="0"/>
          </a:p>
          <a:p>
            <a:pPr indent="0" marL="0">
              <a:spcBef>
                <a:spcPts val="1300"/>
              </a:spcBef>
              <a:buNone/>
            </a:pPr>
            <a:r>
              <a:rPr lang="en-US" sz="1400" b="1" dirty="0">
                <a:solidFill>
                  <a:schemeClr val="accent1"/>
                </a:solidFill>
              </a:rPr>
              <a:t>Model evaluation</a:t>
            </a:r>
            <a:endParaRPr lang="en-US" sz="1400" dirty="0"/>
          </a:p>
          <a:p>
            <a:pPr indent="0" marL="0">
              <a:buNone/>
            </a:pPr>
            <a:r>
              <a:rPr lang="en-US" sz="1400" dirty="0">
                <a:solidFill>
                  <a:schemeClr val="tx1"/>
                </a:solidFill>
              </a:rPr>
              <a:t>Train, validate and test; judge with RMSE, not accuracy alone.</a:t>
            </a:r>
            <a:endParaRPr lang="en-US" sz="1400" dirty="0"/>
          </a:p>
          <a:p>
            <a:pPr indent="0" marL="0">
              <a:spcBef>
                <a:spcPts val="1300"/>
              </a:spcBef>
              <a:buNone/>
            </a:pPr>
            <a:r>
              <a:rPr lang="en-US" sz="1400" b="1" dirty="0">
                <a:solidFill>
                  <a:schemeClr val="accent1"/>
                </a:solidFill>
              </a:rPr>
              <a:t>Bayes' theorem</a:t>
            </a:r>
            <a:endParaRPr lang="en-US" sz="1400" dirty="0"/>
          </a:p>
          <a:p>
            <a:pPr indent="0" marL="0">
              <a:buNone/>
            </a:pPr>
            <a:r>
              <a:rPr lang="en-US" sz="1400" dirty="0">
                <a:solidFill>
                  <a:schemeClr val="tx1"/>
                </a:solidFill>
              </a:rPr>
              <a:t>Update the forecast as new evidence arrives.</a:t>
            </a:r>
            <a:endParaRPr lang="en-US" sz="1400" dirty="0"/>
          </a:p>
        </p:txBody>
      </p:sp>
      <p:sp>
        <p:nvSpPr>
          <p:cNvPr id="39" name="Sources"/>
          <p:cNvSpPr txBox="1"/>
          <p:nvPr/>
        </p:nvSpPr>
        <p:spPr>
          <a:xfrm>
            <a:off x="548640" y="6382512"/>
            <a:ext cx="10515600" cy="310896"/>
          </a:xfrm>
          <a:prstGeom prst="rect">
            <a:avLst/>
          </a:prstGeom>
          <a:noFill/>
          <a:ln/>
        </p:spPr>
        <p:txBody>
          <a:bodyPr wrap="square" lIns="0" tIns="0" rIns="0" bIns="0" rtlCol="0" anchor="ctr"/>
          <a:lstStyle/>
          <a:p>
            <a:pPr algn="l" indent="0" marL="0">
              <a:buNone/>
            </a:pPr>
            <a:r>
              <a:rPr lang="en-US" sz="1000" dirty="0">
                <a:solidFill>
                  <a:srgbClr val="5E6B63"/>
                </a:solidFill>
              </a:rPr>
              <a:t>Sources: van Klompenburg et al. (2020); Mahaur and Khurana (2026, CSE); Microsoft Stories India (2017).</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lide title"/>
          <p:cNvSpPr txBox="1"/>
          <p:nvPr/>
        </p:nvSpPr>
        <p:spPr>
          <a:xfrm>
            <a:off x="548640" y="320040"/>
            <a:ext cx="11091672" cy="640080"/>
          </a:xfrm>
          <a:prstGeom prst="rect">
            <a:avLst/>
          </a:prstGeom>
          <a:noFill/>
          <a:ln/>
        </p:spPr>
        <p:txBody>
          <a:bodyPr wrap="square" lIns="0" tIns="0" rIns="0" bIns="0" rtlCol="0" anchor="ctr">
            <a:normAutofit/>
          </a:bodyPr>
          <a:lstStyle/>
          <a:p>
            <a:pPr algn="l" indent="0" marL="0">
              <a:buNone/>
            </a:pPr>
            <a:r>
              <a:rPr lang="en-US" sz="2800" b="1" dirty="0">
                <a:solidFill>
                  <a:schemeClr val="tx2"/>
                </a:solidFill>
              </a:rPr>
              <a:t>4. Supply chain and prices: more value from every harvest</a:t>
            </a:r>
            <a:endParaRPr lang="en-US" sz="2800" dirty="0"/>
          </a:p>
        </p:txBody>
      </p:sp>
      <p:sp>
        <p:nvSpPr>
          <p:cNvPr id="3" name="Subtitle"/>
          <p:cNvSpPr txBox="1"/>
          <p:nvPr/>
        </p:nvSpPr>
        <p:spPr>
          <a:xfrm>
            <a:off x="548640" y="987552"/>
            <a:ext cx="11091672" cy="365760"/>
          </a:xfrm>
          <a:prstGeom prst="rect">
            <a:avLst/>
          </a:prstGeom>
          <a:noFill/>
          <a:ln/>
        </p:spPr>
        <p:txBody>
          <a:bodyPr wrap="square" lIns="0" tIns="0" rIns="0" bIns="0" rtlCol="0" anchor="t"/>
          <a:lstStyle/>
          <a:p>
            <a:pPr algn="l" indent="0" marL="0">
              <a:buNone/>
            </a:pPr>
            <a:r>
              <a:rPr lang="en-US" sz="1600" dirty="0">
                <a:solidFill>
                  <a:srgbClr val="5E6B63"/>
                </a:solidFill>
              </a:rPr>
              <a:t>AI matches supply with demand, finds shorter routes and tells farmers when and where to sell.</a:t>
            </a:r>
            <a:endParaRPr lang="en-US" sz="1600" dirty="0"/>
          </a:p>
        </p:txBody>
      </p:sp>
      <p:sp>
        <p:nvSpPr>
          <p:cNvPr id="4" name="Logistics card"/>
          <p:cNvSpPr/>
          <p:nvPr/>
        </p:nvSpPr>
        <p:spPr>
          <a:xfrm>
            <a:off x="548640" y="1600200"/>
            <a:ext cx="3703320" cy="4526280"/>
          </a:xfrm>
          <a:prstGeom prst="roundRect">
            <a:avLst>
              <a:gd name="adj" fmla="val 2469"/>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5" name="Icon circle"/>
          <p:cNvSpPr/>
          <p:nvPr/>
        </p:nvSpPr>
        <p:spPr>
          <a:xfrm>
            <a:off x="731520" y="1709928"/>
            <a:ext cx="420624" cy="420624"/>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24057" y="1802465"/>
            <a:ext cx="235549" cy="235549"/>
          </a:xfrm>
          <a:prstGeom prst="rect">
            <a:avLst/>
          </a:prstGeom>
        </p:spPr>
      </p:pic>
      <p:sp>
        <p:nvSpPr>
          <p:cNvPr id="7" name="Card header"/>
          <p:cNvSpPr txBox="1"/>
          <p:nvPr/>
        </p:nvSpPr>
        <p:spPr>
          <a:xfrm>
            <a:off x="1280160" y="169164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Logistics and supply chain</a:t>
            </a:r>
            <a:endParaRPr lang="en-US" sz="1700" dirty="0"/>
          </a:p>
        </p:txBody>
      </p:sp>
      <p:sp>
        <p:nvSpPr>
          <p:cNvPr id="8" name="Bullets"/>
          <p:cNvSpPr txBox="1"/>
          <p:nvPr/>
        </p:nvSpPr>
        <p:spPr>
          <a:xfrm>
            <a:off x="731520" y="2240280"/>
            <a:ext cx="3383280" cy="3017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Farmers get only 33 to 37% of the consumer's rupee for tomato, onion and potato (RBI, 2024)</a:t>
            </a:r>
            <a:endParaRPr lang="en-US" sz="1400" dirty="0"/>
          </a:p>
          <a:p>
            <a:pPr marL="177800" indent="-177800">
              <a:spcAft>
                <a:spcPts val="300"/>
              </a:spcAft>
              <a:buSzPct val="100000"/>
              <a:buChar char="•"/>
            </a:pPr>
            <a:r>
              <a:rPr lang="en-US" sz="1400" dirty="0">
                <a:solidFill>
                  <a:schemeClr val="tx1"/>
                </a:solidFill>
              </a:rPr>
              <a:t>Demand forecasts decide how much to collect, so less produce rots</a:t>
            </a:r>
            <a:endParaRPr lang="en-US" sz="1400" dirty="0"/>
          </a:p>
          <a:p>
            <a:pPr marL="177800" indent="-177800">
              <a:spcAft>
                <a:spcPts val="300"/>
              </a:spcAft>
              <a:buSzPct val="100000"/>
              <a:buChar char="•"/>
            </a:pPr>
            <a:r>
              <a:rPr lang="en-US" sz="1400" dirty="0">
                <a:solidFill>
                  <a:schemeClr val="tx1"/>
                </a:solidFill>
              </a:rPr>
              <a:t>Routing is a Vehicle Routing Problem; genetic algorithms and ant colonies find short routes</a:t>
            </a:r>
            <a:endParaRPr lang="en-US" sz="1400" dirty="0"/>
          </a:p>
          <a:p>
            <a:pPr marL="177800" indent="-177800">
              <a:spcAft>
                <a:spcPts val="300"/>
              </a:spcAft>
              <a:buSzPct val="100000"/>
              <a:buChar char="•"/>
            </a:pPr>
            <a:r>
              <a:rPr lang="en-US" sz="1400" dirty="0">
                <a:solidFill>
                  <a:schemeClr val="tx1"/>
                </a:solidFill>
              </a:rPr>
              <a:t>Ninjacart: 1,500+ tonnes a day, 40+ cities (company-reported); it lost ₹256 crore in FY25</a:t>
            </a:r>
            <a:endParaRPr lang="en-US" sz="1400" dirty="0"/>
          </a:p>
          <a:p>
            <a:pPr marL="177800" indent="-177800">
              <a:spcAft>
                <a:spcPts val="300"/>
              </a:spcAft>
              <a:buSzPct val="100000"/>
              <a:buChar char="•"/>
            </a:pPr>
            <a:r>
              <a:rPr lang="en-US" sz="1400" dirty="0">
                <a:solidFill>
                  <a:schemeClr val="tx1"/>
                </a:solidFill>
              </a:rPr>
              <a:t>DeHaat: 1.8 million farmers, 503 producer organisations</a:t>
            </a:r>
            <a:endParaRPr lang="en-US" sz="1400" dirty="0"/>
          </a:p>
        </p:txBody>
      </p:sp>
      <p:sp>
        <p:nvSpPr>
          <p:cNvPr id="9" name="Icon circle"/>
          <p:cNvSpPr/>
          <p:nvPr/>
        </p:nvSpPr>
        <p:spPr>
          <a:xfrm>
            <a:off x="777240" y="5349240"/>
            <a:ext cx="384048" cy="384048"/>
          </a:xfrm>
          <a:prstGeom prst="ellipse">
            <a:avLst/>
          </a:prstGeom>
          <a:solidFill>
            <a:schemeClr val="accent1"/>
          </a:solidFill>
          <a:ln w="12700">
            <a:solidFill>
              <a:schemeClr val="accent1"/>
            </a:solidFill>
            <a:prstDash val="solid"/>
          </a:ln>
        </p:spPr>
      </p:sp>
      <p:pic>
        <p:nvPicPr>
          <p:cNvPr id="10" name="Image 1" descr="icon">    </p:cNvPr>
          <p:cNvPicPr>
            <a:picLocks noChangeAspect="1"/>
          </p:cNvPicPr>
          <p:nvPr/>
        </p:nvPicPr>
        <p:blipFill>
          <a:blip r:embed="rId2"/>
          <a:stretch>
            <a:fillRect/>
          </a:stretch>
        </p:blipFill>
        <p:spPr>
          <a:xfrm>
            <a:off x="861731" y="5433731"/>
            <a:ext cx="215067" cy="215067"/>
          </a:xfrm>
          <a:prstGeom prst="rect">
            <a:avLst/>
          </a:prstGeom>
        </p:spPr>
      </p:pic>
      <p:sp>
        <p:nvSpPr>
          <p:cNvPr id="11" name="Chain label"/>
          <p:cNvSpPr txBox="1"/>
          <p:nvPr/>
        </p:nvSpPr>
        <p:spPr>
          <a:xfrm>
            <a:off x="594360" y="5769864"/>
            <a:ext cx="749808" cy="274320"/>
          </a:xfrm>
          <a:prstGeom prst="rect">
            <a:avLst/>
          </a:prstGeom>
          <a:noFill/>
          <a:ln/>
        </p:spPr>
        <p:txBody>
          <a:bodyPr wrap="square" lIns="0" tIns="0" rIns="0" bIns="0" rtlCol="0" anchor="ctr"/>
          <a:lstStyle/>
          <a:p>
            <a:pPr algn="ctr" indent="0" marL="0">
              <a:buNone/>
            </a:pPr>
            <a:r>
              <a:rPr lang="en-US" sz="1200" dirty="0">
                <a:solidFill>
                  <a:schemeClr val="tx1"/>
                </a:solidFill>
              </a:rPr>
              <a:t>Farm</a:t>
            </a:r>
            <a:endParaRPr lang="en-US" sz="1200" dirty="0"/>
          </a:p>
        </p:txBody>
      </p:sp>
      <p:sp>
        <p:nvSpPr>
          <p:cNvPr id="12" name="Chain arrow"/>
          <p:cNvSpPr/>
          <p:nvPr/>
        </p:nvSpPr>
        <p:spPr>
          <a:xfrm>
            <a:off x="1280160" y="5440680"/>
            <a:ext cx="237744" cy="201168"/>
          </a:xfrm>
          <a:prstGeom prst="rightArrow">
            <a:avLst/>
          </a:prstGeom>
          <a:solidFill>
            <a:schemeClr val="accent2"/>
          </a:solidFill>
          <a:ln w="12700">
            <a:solidFill>
              <a:schemeClr val="accent2"/>
            </a:solidFill>
            <a:prstDash val="solid"/>
          </a:ln>
        </p:spPr>
      </p:sp>
      <p:sp>
        <p:nvSpPr>
          <p:cNvPr id="13" name="Icon circle"/>
          <p:cNvSpPr/>
          <p:nvPr/>
        </p:nvSpPr>
        <p:spPr>
          <a:xfrm>
            <a:off x="1645920" y="5349240"/>
            <a:ext cx="384048" cy="384048"/>
          </a:xfrm>
          <a:prstGeom prst="ellipse">
            <a:avLst/>
          </a:prstGeom>
          <a:solidFill>
            <a:schemeClr val="accent1"/>
          </a:solidFill>
          <a:ln w="12700">
            <a:solidFill>
              <a:schemeClr val="accent1"/>
            </a:solidFill>
            <a:prstDash val="solid"/>
          </a:ln>
        </p:spPr>
      </p:sp>
      <p:pic>
        <p:nvPicPr>
          <p:cNvPr id="14" name="Image 2" descr="icon">    </p:cNvPr>
          <p:cNvPicPr>
            <a:picLocks noChangeAspect="1"/>
          </p:cNvPicPr>
          <p:nvPr/>
        </p:nvPicPr>
        <p:blipFill>
          <a:blip r:embed="rId3"/>
          <a:stretch>
            <a:fillRect/>
          </a:stretch>
        </p:blipFill>
        <p:spPr>
          <a:xfrm>
            <a:off x="1730411" y="5433731"/>
            <a:ext cx="215067" cy="215067"/>
          </a:xfrm>
          <a:prstGeom prst="rect">
            <a:avLst/>
          </a:prstGeom>
        </p:spPr>
      </p:pic>
      <p:sp>
        <p:nvSpPr>
          <p:cNvPr id="15" name="Chain label"/>
          <p:cNvSpPr txBox="1"/>
          <p:nvPr/>
        </p:nvSpPr>
        <p:spPr>
          <a:xfrm>
            <a:off x="1463040" y="5769864"/>
            <a:ext cx="749808" cy="274320"/>
          </a:xfrm>
          <a:prstGeom prst="rect">
            <a:avLst/>
          </a:prstGeom>
          <a:noFill/>
          <a:ln/>
        </p:spPr>
        <p:txBody>
          <a:bodyPr wrap="square" lIns="0" tIns="0" rIns="0" bIns="0" rtlCol="0" anchor="ctr"/>
          <a:lstStyle/>
          <a:p>
            <a:pPr algn="ctr" indent="0" marL="0">
              <a:buNone/>
            </a:pPr>
            <a:r>
              <a:rPr lang="en-US" sz="1200" dirty="0">
                <a:solidFill>
                  <a:schemeClr val="tx1"/>
                </a:solidFill>
              </a:rPr>
              <a:t>Collect</a:t>
            </a:r>
            <a:endParaRPr lang="en-US" sz="1200" dirty="0"/>
          </a:p>
        </p:txBody>
      </p:sp>
      <p:sp>
        <p:nvSpPr>
          <p:cNvPr id="16" name="Chain arrow"/>
          <p:cNvSpPr/>
          <p:nvPr/>
        </p:nvSpPr>
        <p:spPr>
          <a:xfrm>
            <a:off x="2148840" y="5440680"/>
            <a:ext cx="237744" cy="201168"/>
          </a:xfrm>
          <a:prstGeom prst="rightArrow">
            <a:avLst/>
          </a:prstGeom>
          <a:solidFill>
            <a:schemeClr val="accent2"/>
          </a:solidFill>
          <a:ln w="12700">
            <a:solidFill>
              <a:schemeClr val="accent2"/>
            </a:solidFill>
            <a:prstDash val="solid"/>
          </a:ln>
        </p:spPr>
      </p:sp>
      <p:sp>
        <p:nvSpPr>
          <p:cNvPr id="17" name="Icon circle"/>
          <p:cNvSpPr/>
          <p:nvPr/>
        </p:nvSpPr>
        <p:spPr>
          <a:xfrm>
            <a:off x="2514600" y="5349240"/>
            <a:ext cx="384048" cy="384048"/>
          </a:xfrm>
          <a:prstGeom prst="ellipse">
            <a:avLst/>
          </a:prstGeom>
          <a:solidFill>
            <a:schemeClr val="accent1"/>
          </a:solidFill>
          <a:ln w="12700">
            <a:solidFill>
              <a:schemeClr val="accent1"/>
            </a:solidFill>
            <a:prstDash val="solid"/>
          </a:ln>
        </p:spPr>
      </p:sp>
      <p:pic>
        <p:nvPicPr>
          <p:cNvPr id="18" name="Image 3" descr="icon">    </p:cNvPr>
          <p:cNvPicPr>
            <a:picLocks noChangeAspect="1"/>
          </p:cNvPicPr>
          <p:nvPr/>
        </p:nvPicPr>
        <p:blipFill>
          <a:blip r:embed="rId4"/>
          <a:stretch>
            <a:fillRect/>
          </a:stretch>
        </p:blipFill>
        <p:spPr>
          <a:xfrm>
            <a:off x="2599091" y="5433731"/>
            <a:ext cx="215067" cy="215067"/>
          </a:xfrm>
          <a:prstGeom prst="rect">
            <a:avLst/>
          </a:prstGeom>
        </p:spPr>
      </p:pic>
      <p:sp>
        <p:nvSpPr>
          <p:cNvPr id="19" name="Chain label"/>
          <p:cNvSpPr txBox="1"/>
          <p:nvPr/>
        </p:nvSpPr>
        <p:spPr>
          <a:xfrm>
            <a:off x="2331720" y="5769864"/>
            <a:ext cx="749808" cy="274320"/>
          </a:xfrm>
          <a:prstGeom prst="rect">
            <a:avLst/>
          </a:prstGeom>
          <a:noFill/>
          <a:ln/>
        </p:spPr>
        <p:txBody>
          <a:bodyPr wrap="square" lIns="0" tIns="0" rIns="0" bIns="0" rtlCol="0" anchor="ctr"/>
          <a:lstStyle/>
          <a:p>
            <a:pPr algn="ctr" indent="0" marL="0">
              <a:buNone/>
            </a:pPr>
            <a:r>
              <a:rPr lang="en-US" sz="1200" dirty="0">
                <a:solidFill>
                  <a:schemeClr val="tx1"/>
                </a:solidFill>
              </a:rPr>
              <a:t>Hub</a:t>
            </a:r>
            <a:endParaRPr lang="en-US" sz="1200" dirty="0"/>
          </a:p>
        </p:txBody>
      </p:sp>
      <p:sp>
        <p:nvSpPr>
          <p:cNvPr id="20" name="Chain arrow"/>
          <p:cNvSpPr/>
          <p:nvPr/>
        </p:nvSpPr>
        <p:spPr>
          <a:xfrm>
            <a:off x="3017520" y="5440680"/>
            <a:ext cx="237744" cy="201168"/>
          </a:xfrm>
          <a:prstGeom prst="rightArrow">
            <a:avLst/>
          </a:prstGeom>
          <a:solidFill>
            <a:schemeClr val="accent2"/>
          </a:solidFill>
          <a:ln w="12700">
            <a:solidFill>
              <a:schemeClr val="accent2"/>
            </a:solidFill>
            <a:prstDash val="solid"/>
          </a:ln>
        </p:spPr>
      </p:sp>
      <p:sp>
        <p:nvSpPr>
          <p:cNvPr id="21" name="Icon circle"/>
          <p:cNvSpPr/>
          <p:nvPr/>
        </p:nvSpPr>
        <p:spPr>
          <a:xfrm>
            <a:off x="3383280" y="5349240"/>
            <a:ext cx="384048" cy="384048"/>
          </a:xfrm>
          <a:prstGeom prst="ellipse">
            <a:avLst/>
          </a:prstGeom>
          <a:solidFill>
            <a:schemeClr val="accent1"/>
          </a:solidFill>
          <a:ln w="12700">
            <a:solidFill>
              <a:schemeClr val="accent1"/>
            </a:solidFill>
            <a:prstDash val="solid"/>
          </a:ln>
        </p:spPr>
      </p:sp>
      <p:pic>
        <p:nvPicPr>
          <p:cNvPr id="22" name="Image 4" descr="icon">    </p:cNvPr>
          <p:cNvPicPr>
            <a:picLocks noChangeAspect="1"/>
          </p:cNvPicPr>
          <p:nvPr/>
        </p:nvPicPr>
        <p:blipFill>
          <a:blip r:embed="rId5"/>
          <a:stretch>
            <a:fillRect/>
          </a:stretch>
        </p:blipFill>
        <p:spPr>
          <a:xfrm>
            <a:off x="3467771" y="5433731"/>
            <a:ext cx="215067" cy="215067"/>
          </a:xfrm>
          <a:prstGeom prst="rect">
            <a:avLst/>
          </a:prstGeom>
        </p:spPr>
      </p:pic>
      <p:sp>
        <p:nvSpPr>
          <p:cNvPr id="23" name="Chain label"/>
          <p:cNvSpPr txBox="1"/>
          <p:nvPr/>
        </p:nvSpPr>
        <p:spPr>
          <a:xfrm>
            <a:off x="3200400" y="5769864"/>
            <a:ext cx="749808" cy="274320"/>
          </a:xfrm>
          <a:prstGeom prst="rect">
            <a:avLst/>
          </a:prstGeom>
          <a:noFill/>
          <a:ln/>
        </p:spPr>
        <p:txBody>
          <a:bodyPr wrap="square" lIns="0" tIns="0" rIns="0" bIns="0" rtlCol="0" anchor="ctr"/>
          <a:lstStyle/>
          <a:p>
            <a:pPr algn="ctr" indent="0" marL="0">
              <a:buNone/>
            </a:pPr>
            <a:r>
              <a:rPr lang="en-US" sz="1200" dirty="0">
                <a:solidFill>
                  <a:schemeClr val="tx1"/>
                </a:solidFill>
              </a:rPr>
              <a:t>Buyer</a:t>
            </a:r>
            <a:endParaRPr lang="en-US" sz="1200" dirty="0"/>
          </a:p>
        </p:txBody>
      </p:sp>
      <p:sp>
        <p:nvSpPr>
          <p:cNvPr id="24" name="Price card"/>
          <p:cNvSpPr/>
          <p:nvPr/>
        </p:nvSpPr>
        <p:spPr>
          <a:xfrm>
            <a:off x="4434840" y="1600200"/>
            <a:ext cx="3703320" cy="4526280"/>
          </a:xfrm>
          <a:prstGeom prst="roundRect">
            <a:avLst>
              <a:gd name="adj" fmla="val 2469"/>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25" name="Icon circle"/>
          <p:cNvSpPr/>
          <p:nvPr/>
        </p:nvSpPr>
        <p:spPr>
          <a:xfrm>
            <a:off x="4617720" y="1709928"/>
            <a:ext cx="420624" cy="420624"/>
          </a:xfrm>
          <a:prstGeom prst="ellipse">
            <a:avLst/>
          </a:prstGeom>
          <a:solidFill>
            <a:schemeClr val="accent2"/>
          </a:solidFill>
          <a:ln w="12700">
            <a:solidFill>
              <a:schemeClr val="accent2"/>
            </a:solidFill>
            <a:prstDash val="solid"/>
          </a:ln>
        </p:spPr>
      </p:sp>
      <p:pic>
        <p:nvPicPr>
          <p:cNvPr id="26" name="Image 5" descr="icon">    </p:cNvPr>
          <p:cNvPicPr>
            <a:picLocks noChangeAspect="1"/>
          </p:cNvPicPr>
          <p:nvPr/>
        </p:nvPicPr>
        <p:blipFill>
          <a:blip r:embed="rId6"/>
          <a:stretch>
            <a:fillRect/>
          </a:stretch>
        </p:blipFill>
        <p:spPr>
          <a:xfrm>
            <a:off x="4710257" y="1802465"/>
            <a:ext cx="235549" cy="235549"/>
          </a:xfrm>
          <a:prstGeom prst="rect">
            <a:avLst/>
          </a:prstGeom>
        </p:spPr>
      </p:pic>
      <p:sp>
        <p:nvSpPr>
          <p:cNvPr id="27" name="Card header"/>
          <p:cNvSpPr txBox="1"/>
          <p:nvPr/>
        </p:nvSpPr>
        <p:spPr>
          <a:xfrm>
            <a:off x="5166360" y="1691640"/>
            <a:ext cx="2834640" cy="457200"/>
          </a:xfrm>
          <a:prstGeom prst="rect">
            <a:avLst/>
          </a:prstGeom>
          <a:noFill/>
          <a:ln/>
        </p:spPr>
        <p:txBody>
          <a:bodyPr wrap="square" lIns="0" tIns="0" rIns="0" bIns="0" rtlCol="0" anchor="ctr"/>
          <a:lstStyle/>
          <a:p>
            <a:pPr indent="0" marL="0">
              <a:buNone/>
            </a:pPr>
            <a:r>
              <a:rPr lang="en-US" sz="1700" b="1" dirty="0">
                <a:solidFill>
                  <a:schemeClr val="tx2"/>
                </a:solidFill>
              </a:rPr>
              <a:t>Market data and price prediction</a:t>
            </a:r>
            <a:endParaRPr lang="en-US" sz="1700" dirty="0"/>
          </a:p>
        </p:txBody>
      </p:sp>
      <p:sp>
        <p:nvSpPr>
          <p:cNvPr id="28" name="Bullets"/>
          <p:cNvSpPr txBox="1"/>
          <p:nvPr/>
        </p:nvSpPr>
        <p:spPr>
          <a:xfrm>
            <a:off x="4617720" y="2286000"/>
            <a:ext cx="3383280" cy="37490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Agmarknet publishes daily minimum, maximum and modal prices and arrivals from markets across India</a:t>
            </a:r>
            <a:endParaRPr lang="en-US" sz="1400" dirty="0"/>
          </a:p>
          <a:p>
            <a:pPr marL="177800" indent="-177800">
              <a:spcAft>
                <a:spcPts val="400"/>
              </a:spcAft>
              <a:buSzPct val="100000"/>
              <a:buChar char="•"/>
            </a:pPr>
            <a:r>
              <a:rPr lang="en-US" sz="1400" dirty="0">
                <a:solidFill>
                  <a:schemeClr val="tx1"/>
                </a:solidFill>
              </a:rPr>
              <a:t>Deep learning models that also use weather data beat statistical and ML models for tomato, onion and potato</a:t>
            </a:r>
            <a:endParaRPr lang="en-US" sz="1400" dirty="0"/>
          </a:p>
          <a:p>
            <a:pPr marL="177800" indent="-177800">
              <a:spcAft>
                <a:spcPts val="400"/>
              </a:spcAft>
              <a:buSzPct val="100000"/>
              <a:buChar char="•"/>
            </a:pPr>
            <a:r>
              <a:rPr lang="en-US" sz="1400" dirty="0">
                <a:solidFill>
                  <a:schemeClr val="tx1"/>
                </a:solidFill>
              </a:rPr>
              <a:t>A mobile tool for small farmers shows forecasts with uncertainty ranges</a:t>
            </a:r>
            <a:endParaRPr lang="en-US" sz="1400" dirty="0"/>
          </a:p>
          <a:p>
            <a:pPr marL="177800" indent="-177800">
              <a:spcAft>
                <a:spcPts val="400"/>
              </a:spcAft>
              <a:buSzPct val="100000"/>
              <a:buChar char="•"/>
            </a:pPr>
            <a:r>
              <a:rPr lang="en-US" sz="1400" dirty="0">
                <a:solidFill>
                  <a:schemeClr val="tx1"/>
                </a:solidFill>
              </a:rPr>
              <a:t>Karnataka: tur prices forecast three months ahead</a:t>
            </a:r>
            <a:endParaRPr lang="en-US" sz="1400" dirty="0"/>
          </a:p>
          <a:p>
            <a:pPr marL="177800" indent="-177800">
              <a:spcAft>
                <a:spcPts val="400"/>
              </a:spcAft>
              <a:buSzPct val="100000"/>
              <a:buChar char="•"/>
            </a:pPr>
            <a:r>
              <a:rPr lang="en-US" sz="1400" dirty="0">
                <a:solidFill>
                  <a:schemeClr val="tx1"/>
                </a:solidFill>
              </a:rPr>
              <a:t>Benefit: choose when and where to sell, and whether to store</a:t>
            </a:r>
            <a:endParaRPr lang="en-US" sz="1400" dirty="0"/>
          </a:p>
          <a:p>
            <a:pPr marL="177800" indent="-177800">
              <a:spcAft>
                <a:spcPts val="400"/>
              </a:spcAft>
              <a:buSzPct val="100000"/>
              <a:buChar char="•"/>
            </a:pPr>
            <a:r>
              <a:rPr lang="en-US" sz="1400" dirty="0">
                <a:solidFill>
                  <a:schemeClr val="tx1"/>
                </a:solidFill>
              </a:rPr>
              <a:t>Limit: rural price data is patchy; a forecast is advice, not a guarantee</a:t>
            </a:r>
            <a:endParaRPr lang="en-US" sz="1400" dirty="0"/>
          </a:p>
        </p:txBody>
      </p:sp>
      <p:sp>
        <p:nvSpPr>
          <p:cNvPr id="29" name="Course concepts panel"/>
          <p:cNvSpPr/>
          <p:nvPr/>
        </p:nvSpPr>
        <p:spPr>
          <a:xfrm>
            <a:off x="8458200" y="1600200"/>
            <a:ext cx="3182112" cy="4526280"/>
          </a:xfrm>
          <a:prstGeom prst="roundRect">
            <a:avLst>
              <a:gd name="adj" fmla="val 2874"/>
            </a:avLst>
          </a:prstGeom>
          <a:solidFill>
            <a:schemeClr val="bg2"/>
          </a:solidFill>
          <a:ln w="12700">
            <a:solidFill>
              <a:schemeClr val="accent6"/>
            </a:solidFill>
            <a:prstDash val="solid"/>
          </a:ln>
        </p:spPr>
      </p:sp>
      <p:sp>
        <p:nvSpPr>
          <p:cNvPr id="30" name="Icon circle"/>
          <p:cNvSpPr/>
          <p:nvPr/>
        </p:nvSpPr>
        <p:spPr>
          <a:xfrm>
            <a:off x="8641080" y="1755648"/>
            <a:ext cx="402336" cy="402336"/>
          </a:xfrm>
          <a:prstGeom prst="ellipse">
            <a:avLst/>
          </a:prstGeom>
          <a:solidFill>
            <a:schemeClr val="accent1"/>
          </a:solidFill>
          <a:ln w="12700">
            <a:solidFill>
              <a:schemeClr val="accent1"/>
            </a:solidFill>
            <a:prstDash val="solid"/>
          </a:ln>
        </p:spPr>
      </p:sp>
      <p:pic>
        <p:nvPicPr>
          <p:cNvPr id="31" name="Image 6" descr="icon">    </p:cNvPr>
          <p:cNvPicPr>
            <a:picLocks noChangeAspect="1"/>
          </p:cNvPicPr>
          <p:nvPr/>
        </p:nvPicPr>
        <p:blipFill>
          <a:blip r:embed="rId7"/>
          <a:stretch>
            <a:fillRect/>
          </a:stretch>
        </p:blipFill>
        <p:spPr>
          <a:xfrm>
            <a:off x="8729594" y="1844162"/>
            <a:ext cx="225308" cy="225308"/>
          </a:xfrm>
          <a:prstGeom prst="rect">
            <a:avLst/>
          </a:prstGeom>
        </p:spPr>
      </p:pic>
      <p:sp>
        <p:nvSpPr>
          <p:cNvPr id="32" name="Panel header"/>
          <p:cNvSpPr txBox="1"/>
          <p:nvPr/>
        </p:nvSpPr>
        <p:spPr>
          <a:xfrm>
            <a:off x="9153144" y="1728216"/>
            <a:ext cx="2359152" cy="457200"/>
          </a:xfrm>
          <a:prstGeom prst="rect">
            <a:avLst/>
          </a:prstGeom>
          <a:noFill/>
          <a:ln/>
        </p:spPr>
        <p:txBody>
          <a:bodyPr wrap="square" lIns="0" tIns="0" rIns="0" bIns="0" rtlCol="0" anchor="ctr"/>
          <a:lstStyle/>
          <a:p>
            <a:pPr indent="0" marL="0">
              <a:buNone/>
            </a:pPr>
            <a:r>
              <a:rPr lang="en-US" sz="1600" b="1" dirty="0">
                <a:solidFill>
                  <a:schemeClr val="tx2"/>
                </a:solidFill>
              </a:rPr>
              <a:t>Course concepts applied</a:t>
            </a:r>
            <a:endParaRPr lang="en-US" sz="1600" dirty="0"/>
          </a:p>
        </p:txBody>
      </p:sp>
      <p:sp>
        <p:nvSpPr>
          <p:cNvPr id="33" name="Course concepts list"/>
          <p:cNvSpPr txBox="1"/>
          <p:nvPr/>
        </p:nvSpPr>
        <p:spPr>
          <a:xfrm>
            <a:off x="8659368" y="2350008"/>
            <a:ext cx="2779776" cy="3657600"/>
          </a:xfrm>
          <a:prstGeom prst="rect">
            <a:avLst/>
          </a:prstGeom>
          <a:noFill/>
          <a:ln/>
        </p:spPr>
        <p:txBody>
          <a:bodyPr wrap="square" lIns="0" tIns="0" rIns="0" bIns="0" rtlCol="0" anchor="t"/>
          <a:lstStyle/>
          <a:p>
            <a:pPr indent="0" marL="0">
              <a:buNone/>
            </a:pPr>
            <a:r>
              <a:rPr lang="en-US" sz="1400" b="1" dirty="0">
                <a:solidFill>
                  <a:schemeClr val="accent1"/>
                </a:solidFill>
              </a:rPr>
              <a:t>Optimisation</a:t>
            </a:r>
            <a:endParaRPr lang="en-US" sz="1400" dirty="0"/>
          </a:p>
          <a:p>
            <a:pPr indent="0" marL="0">
              <a:buNone/>
            </a:pPr>
            <a:r>
              <a:rPr lang="en-US" sz="1400" dirty="0">
                <a:solidFill>
                  <a:schemeClr val="tx1"/>
                </a:solidFill>
              </a:rPr>
              <a:t>Genetic algorithms and ant colony methods solve routing and scheduling.</a:t>
            </a:r>
            <a:endParaRPr lang="en-US" sz="1400" dirty="0"/>
          </a:p>
          <a:p>
            <a:pPr indent="0" marL="0">
              <a:spcBef>
                <a:spcPts val="1300"/>
              </a:spcBef>
              <a:buNone/>
            </a:pPr>
            <a:r>
              <a:rPr lang="en-US" sz="1400" b="1" dirty="0">
                <a:solidFill>
                  <a:schemeClr val="accent1"/>
                </a:solidFill>
              </a:rPr>
              <a:t>A* search</a:t>
            </a:r>
            <a:endParaRPr lang="en-US" sz="1400" dirty="0"/>
          </a:p>
          <a:p>
            <a:pPr indent="0" marL="0">
              <a:buNone/>
            </a:pPr>
            <a:r>
              <a:rPr lang="en-US" sz="1400" dirty="0">
                <a:solidFill>
                  <a:schemeClr val="tx1"/>
                </a:solidFill>
              </a:rPr>
              <a:t>Finds the shortest path between farms, hubs and markets.</a:t>
            </a:r>
            <a:endParaRPr lang="en-US" sz="1400" dirty="0"/>
          </a:p>
          <a:p>
            <a:pPr indent="0" marL="0">
              <a:spcBef>
                <a:spcPts val="1300"/>
              </a:spcBef>
              <a:buNone/>
            </a:pPr>
            <a:r>
              <a:rPr lang="en-US" sz="1400" b="1" dirty="0">
                <a:solidFill>
                  <a:schemeClr val="accent1"/>
                </a:solidFill>
              </a:rPr>
              <a:t>Regression and RNN</a:t>
            </a:r>
            <a:endParaRPr lang="en-US" sz="1400" dirty="0"/>
          </a:p>
          <a:p>
            <a:pPr indent="0" marL="0">
              <a:buNone/>
            </a:pPr>
            <a:r>
              <a:rPr lang="en-US" sz="1400" dirty="0">
                <a:solidFill>
                  <a:schemeClr val="tx1"/>
                </a:solidFill>
              </a:rPr>
              <a:t>Forecast prices as a time series. Dynamic pricing (Uber, Ola) uses the same idea.</a:t>
            </a:r>
            <a:endParaRPr lang="en-US" sz="1400" dirty="0"/>
          </a:p>
          <a:p>
            <a:pPr indent="0" marL="0">
              <a:spcBef>
                <a:spcPts val="1300"/>
              </a:spcBef>
              <a:buNone/>
            </a:pPr>
            <a:r>
              <a:rPr lang="en-US" sz="1400" b="1" dirty="0">
                <a:solidFill>
                  <a:schemeClr val="accent1"/>
                </a:solidFill>
              </a:rPr>
              <a:t>Demand sensing</a:t>
            </a:r>
            <a:endParaRPr lang="en-US" sz="1400" dirty="0"/>
          </a:p>
          <a:p>
            <a:pPr indent="0" marL="0">
              <a:buNone/>
            </a:pPr>
            <a:r>
              <a:rPr lang="en-US" sz="1400" dirty="0">
                <a:solidFill>
                  <a:schemeClr val="tx1"/>
                </a:solidFill>
              </a:rPr>
              <a:t>Outside signals such as weather sharpen the forecast.</a:t>
            </a:r>
            <a:endParaRPr lang="en-US" sz="1400" dirty="0"/>
          </a:p>
        </p:txBody>
      </p:sp>
      <p:sp>
        <p:nvSpPr>
          <p:cNvPr id="34" name="Sources"/>
          <p:cNvSpPr txBox="1"/>
          <p:nvPr/>
        </p:nvSpPr>
        <p:spPr>
          <a:xfrm>
            <a:off x="548640" y="6382512"/>
            <a:ext cx="10515600" cy="310896"/>
          </a:xfrm>
          <a:prstGeom prst="rect">
            <a:avLst/>
          </a:prstGeom>
          <a:noFill/>
          <a:ln/>
        </p:spPr>
        <p:txBody>
          <a:bodyPr wrap="square" lIns="0" tIns="0" rIns="0" bIns="0" rtlCol="0" anchor="ctr"/>
          <a:lstStyle/>
          <a:p>
            <a:pPr algn="l" indent="0" marL="0">
              <a:buNone/>
            </a:pPr>
            <a:r>
              <a:rPr lang="en-US" sz="1000" dirty="0">
                <a:solidFill>
                  <a:srgbClr val="5E6B63"/>
                </a:solidFill>
              </a:rPr>
              <a:t>Sources: RBI (2024); Inc42 (2026); NITI Aayog (2025); Ma et al. (2018); Nayak et al. (2024); Microsoft Stories India (2017). Company figures are self-reported.</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lide title"/>
          <p:cNvSpPr txBox="1"/>
          <p:nvPr/>
        </p:nvSpPr>
        <p:spPr>
          <a:xfrm>
            <a:off x="548640" y="320040"/>
            <a:ext cx="11091672" cy="640080"/>
          </a:xfrm>
          <a:prstGeom prst="rect">
            <a:avLst/>
          </a:prstGeom>
          <a:noFill/>
          <a:ln/>
        </p:spPr>
        <p:txBody>
          <a:bodyPr wrap="square" lIns="0" tIns="0" rIns="0" bIns="0" rtlCol="0" anchor="ctr">
            <a:normAutofit/>
          </a:bodyPr>
          <a:lstStyle/>
          <a:p>
            <a:pPr algn="l" indent="0" marL="0">
              <a:buNone/>
            </a:pPr>
            <a:r>
              <a:rPr lang="en-US" sz="2800" b="1" dirty="0">
                <a:solidFill>
                  <a:schemeClr val="tx2"/>
                </a:solidFill>
              </a:rPr>
              <a:t>Solutions for farmers: AI that works at ground level</a:t>
            </a:r>
            <a:endParaRPr lang="en-US" sz="2800" dirty="0"/>
          </a:p>
        </p:txBody>
      </p:sp>
      <p:sp>
        <p:nvSpPr>
          <p:cNvPr id="3" name="Subtitle"/>
          <p:cNvSpPr txBox="1"/>
          <p:nvPr/>
        </p:nvSpPr>
        <p:spPr>
          <a:xfrm>
            <a:off x="548640" y="987552"/>
            <a:ext cx="11091672" cy="365760"/>
          </a:xfrm>
          <a:prstGeom prst="rect">
            <a:avLst/>
          </a:prstGeom>
          <a:noFill/>
          <a:ln/>
        </p:spPr>
        <p:txBody>
          <a:bodyPr wrap="square" lIns="0" tIns="0" rIns="0" bIns="0" rtlCol="0" anchor="t"/>
          <a:lstStyle/>
          <a:p>
            <a:pPr algn="l" indent="0" marL="0">
              <a:buNone/>
            </a:pPr>
            <a:r>
              <a:rPr lang="en-US" sz="1600" dirty="0">
                <a:solidFill>
                  <a:srgbClr val="5E6B63"/>
                </a:solidFill>
              </a:rPr>
              <a:t>One voice-first app, backed by prices, alerts and shared services, puts these tools in farmers' hands.</a:t>
            </a:r>
            <a:endParaRPr lang="en-US" sz="1600" dirty="0"/>
          </a:p>
        </p:txBody>
      </p:sp>
      <p:sp>
        <p:nvSpPr>
          <p:cNvPr id="4" name="Farmer app card"/>
          <p:cNvSpPr/>
          <p:nvPr/>
        </p:nvSpPr>
        <p:spPr>
          <a:xfrm>
            <a:off x="548640" y="1554480"/>
            <a:ext cx="6766560" cy="3017520"/>
          </a:xfrm>
          <a:prstGeom prst="roundRect">
            <a:avLst>
              <a:gd name="adj" fmla="val 3030"/>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5" name="Icon circle"/>
          <p:cNvSpPr/>
          <p:nvPr/>
        </p:nvSpPr>
        <p:spPr>
          <a:xfrm>
            <a:off x="731520" y="1645920"/>
            <a:ext cx="420624" cy="420624"/>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24057" y="1738457"/>
            <a:ext cx="235549" cy="235549"/>
          </a:xfrm>
          <a:prstGeom prst="rect">
            <a:avLst/>
          </a:prstGeom>
        </p:spPr>
      </p:pic>
      <p:sp>
        <p:nvSpPr>
          <p:cNvPr id="7" name="Card header"/>
          <p:cNvSpPr txBox="1"/>
          <p:nvPr/>
        </p:nvSpPr>
        <p:spPr>
          <a:xfrm>
            <a:off x="1280160" y="1627632"/>
            <a:ext cx="5852160" cy="457200"/>
          </a:xfrm>
          <a:prstGeom prst="rect">
            <a:avLst/>
          </a:prstGeom>
          <a:noFill/>
          <a:ln/>
        </p:spPr>
        <p:txBody>
          <a:bodyPr wrap="square" lIns="0" tIns="0" rIns="0" bIns="0" rtlCol="0" anchor="ctr"/>
          <a:lstStyle/>
          <a:p>
            <a:pPr indent="0" marL="0">
              <a:buNone/>
            </a:pPr>
            <a:r>
              <a:rPr lang="en-US" sz="1700" b="1" dirty="0">
                <a:solidFill>
                  <a:schemeClr val="tx2"/>
                </a:solidFill>
              </a:rPr>
              <a:t>AI-powered farmer app: ask in your own language</a:t>
            </a:r>
            <a:endParaRPr lang="en-US" sz="1700" dirty="0"/>
          </a:p>
        </p:txBody>
      </p:sp>
      <p:sp>
        <p:nvSpPr>
          <p:cNvPr id="8" name="Phone body"/>
          <p:cNvSpPr/>
          <p:nvPr/>
        </p:nvSpPr>
        <p:spPr>
          <a:xfrm>
            <a:off x="777240" y="2194560"/>
            <a:ext cx="2331720" cy="2103120"/>
          </a:xfrm>
          <a:prstGeom prst="roundRect">
            <a:avLst>
              <a:gd name="adj" fmla="val 7826"/>
            </a:avLst>
          </a:prstGeom>
          <a:solidFill>
            <a:schemeClr val="tx2"/>
          </a:solidFill>
          <a:ln w="12700">
            <a:solidFill>
              <a:schemeClr val="tx2"/>
            </a:solidFill>
            <a:prstDash val="solid"/>
          </a:ln>
        </p:spPr>
      </p:sp>
      <p:sp>
        <p:nvSpPr>
          <p:cNvPr id="9" name="Phone screen"/>
          <p:cNvSpPr/>
          <p:nvPr/>
        </p:nvSpPr>
        <p:spPr>
          <a:xfrm>
            <a:off x="850392" y="2286000"/>
            <a:ext cx="2185416" cy="1920240"/>
          </a:xfrm>
          <a:prstGeom prst="roundRect">
            <a:avLst>
              <a:gd name="adj" fmla="val 4762"/>
            </a:avLst>
          </a:prstGeom>
          <a:solidFill>
            <a:schemeClr val="bg1"/>
          </a:solidFill>
          <a:ln w="12700">
            <a:solidFill>
              <a:schemeClr val="bg1"/>
            </a:solidFill>
            <a:prstDash val="solid"/>
          </a:ln>
        </p:spPr>
      </p:sp>
      <p:sp>
        <p:nvSpPr>
          <p:cNvPr id="10" name="Farmer bubble"/>
          <p:cNvSpPr/>
          <p:nvPr/>
        </p:nvSpPr>
        <p:spPr>
          <a:xfrm>
            <a:off x="1417320" y="2359152"/>
            <a:ext cx="1554480" cy="566928"/>
          </a:xfrm>
          <a:prstGeom prst="roundRect">
            <a:avLst>
              <a:gd name="adj" fmla="val 12903"/>
            </a:avLst>
          </a:prstGeom>
          <a:solidFill>
            <a:schemeClr val="accent2"/>
          </a:solidFill>
          <a:ln w="12700">
            <a:solidFill>
              <a:schemeClr val="accent2"/>
            </a:solidFill>
            <a:prstDash val="solid"/>
          </a:ln>
        </p:spPr>
      </p:sp>
      <p:sp>
        <p:nvSpPr>
          <p:cNvPr id="11" name="Farmer message"/>
          <p:cNvSpPr txBox="1"/>
          <p:nvPr/>
        </p:nvSpPr>
        <p:spPr>
          <a:xfrm>
            <a:off x="1463040" y="2377440"/>
            <a:ext cx="1463040" cy="530352"/>
          </a:xfrm>
          <a:prstGeom prst="rect">
            <a:avLst/>
          </a:prstGeom>
          <a:noFill/>
          <a:ln/>
        </p:spPr>
        <p:txBody>
          <a:bodyPr wrap="square" lIns="0" tIns="0" rIns="0" bIns="0" rtlCol="0" anchor="ctr"/>
          <a:lstStyle/>
          <a:p>
            <a:pPr indent="0" marL="0">
              <a:buNone/>
            </a:pPr>
            <a:r>
              <a:rPr lang="en-US" sz="1100" dirty="0">
                <a:solidFill>
                  <a:schemeClr val="tx1"/>
                </a:solidFill>
              </a:rPr>
              <a:t>Why are my tomato leaves curling? [photo]</a:t>
            </a:r>
            <a:endParaRPr lang="en-US" sz="1100" dirty="0"/>
          </a:p>
        </p:txBody>
      </p:sp>
      <p:sp>
        <p:nvSpPr>
          <p:cNvPr id="12" name="AI bubble"/>
          <p:cNvSpPr/>
          <p:nvPr/>
        </p:nvSpPr>
        <p:spPr>
          <a:xfrm>
            <a:off x="914400" y="2999232"/>
            <a:ext cx="2057400" cy="896112"/>
          </a:xfrm>
          <a:prstGeom prst="roundRect">
            <a:avLst>
              <a:gd name="adj" fmla="val 8163"/>
            </a:avLst>
          </a:prstGeom>
          <a:solidFill>
            <a:schemeClr val="bg2"/>
          </a:solidFill>
          <a:ln w="6350">
            <a:solidFill>
              <a:schemeClr val="accent6"/>
            </a:solidFill>
            <a:prstDash val="solid"/>
          </a:ln>
        </p:spPr>
      </p:sp>
      <p:sp>
        <p:nvSpPr>
          <p:cNvPr id="13" name="AI message"/>
          <p:cNvSpPr txBox="1"/>
          <p:nvPr/>
        </p:nvSpPr>
        <p:spPr>
          <a:xfrm>
            <a:off x="960120" y="3017520"/>
            <a:ext cx="1965960" cy="859536"/>
          </a:xfrm>
          <a:prstGeom prst="rect">
            <a:avLst/>
          </a:prstGeom>
          <a:noFill/>
          <a:ln/>
        </p:spPr>
        <p:txBody>
          <a:bodyPr wrap="square" lIns="0" tIns="0" rIns="0" bIns="0" rtlCol="0" anchor="ctr"/>
          <a:lstStyle/>
          <a:p>
            <a:pPr indent="0" marL="0">
              <a:buNone/>
            </a:pPr>
            <a:r>
              <a:rPr lang="en-US" sz="1100" dirty="0">
                <a:solidFill>
                  <a:schemeClr val="tx1"/>
                </a:solidFill>
              </a:rPr>
              <a:t>Likely tomato leaf curl virus, spread by whiteflies. Simple steps below; an expert is one tap away.</a:t>
            </a:r>
            <a:endParaRPr lang="en-US" sz="1100" dirty="0"/>
          </a:p>
        </p:txBody>
      </p:sp>
      <p:sp>
        <p:nvSpPr>
          <p:cNvPr id="14" name="Icon circle"/>
          <p:cNvSpPr/>
          <p:nvPr/>
        </p:nvSpPr>
        <p:spPr>
          <a:xfrm>
            <a:off x="2542032" y="3858768"/>
            <a:ext cx="274320" cy="274320"/>
          </a:xfrm>
          <a:prstGeom prst="ellipse">
            <a:avLst/>
          </a:prstGeom>
          <a:solidFill>
            <a:schemeClr val="accent1"/>
          </a:solidFill>
          <a:ln w="12700">
            <a:solidFill>
              <a:schemeClr val="accent1"/>
            </a:solidFill>
            <a:prstDash val="solid"/>
          </a:ln>
        </p:spPr>
      </p:sp>
      <p:pic>
        <p:nvPicPr>
          <p:cNvPr id="15" name="Image 1" descr="icon">    </p:cNvPr>
          <p:cNvPicPr>
            <a:picLocks noChangeAspect="1"/>
          </p:cNvPicPr>
          <p:nvPr/>
        </p:nvPicPr>
        <p:blipFill>
          <a:blip r:embed="rId2"/>
          <a:stretch>
            <a:fillRect/>
          </a:stretch>
        </p:blipFill>
        <p:spPr>
          <a:xfrm>
            <a:off x="2602382" y="3919118"/>
            <a:ext cx="153619" cy="153619"/>
          </a:xfrm>
          <a:prstGeom prst="rect">
            <a:avLst/>
          </a:prstGeom>
        </p:spPr>
      </p:pic>
      <p:sp>
        <p:nvSpPr>
          <p:cNvPr id="16" name="Mockup caption"/>
          <p:cNvSpPr txBox="1"/>
          <p:nvPr/>
        </p:nvSpPr>
        <p:spPr>
          <a:xfrm>
            <a:off x="777240" y="4315968"/>
            <a:ext cx="2331720" cy="201168"/>
          </a:xfrm>
          <a:prstGeom prst="rect">
            <a:avLst/>
          </a:prstGeom>
          <a:noFill/>
          <a:ln/>
        </p:spPr>
        <p:txBody>
          <a:bodyPr wrap="square" lIns="0" tIns="0" rIns="0" bIns="0" rtlCol="0" anchor="ctr"/>
          <a:lstStyle/>
          <a:p>
            <a:pPr algn="ctr" indent="0" marL="0">
              <a:buNone/>
            </a:pPr>
            <a:r>
              <a:rPr lang="en-US" sz="1000" dirty="0">
                <a:solidFill>
                  <a:srgbClr val="5E6B63"/>
                </a:solidFill>
              </a:rPr>
              <a:t>Illustrative example</a:t>
            </a:r>
            <a:endParaRPr lang="en-US" sz="1000" dirty="0"/>
          </a:p>
        </p:txBody>
      </p:sp>
      <p:sp>
        <p:nvSpPr>
          <p:cNvPr id="17" name="Icon circle"/>
          <p:cNvSpPr/>
          <p:nvPr/>
        </p:nvSpPr>
        <p:spPr>
          <a:xfrm>
            <a:off x="3337560" y="2212848"/>
            <a:ext cx="292608" cy="292608"/>
          </a:xfrm>
          <a:prstGeom prst="ellipse">
            <a:avLst/>
          </a:prstGeom>
          <a:solidFill>
            <a:schemeClr val="accent1"/>
          </a:solidFill>
          <a:ln w="12700">
            <a:solidFill>
              <a:schemeClr val="accent1"/>
            </a:solidFill>
            <a:prstDash val="solid"/>
          </a:ln>
        </p:spPr>
      </p:sp>
      <p:pic>
        <p:nvPicPr>
          <p:cNvPr id="18" name="Image 2" descr="icon">    </p:cNvPr>
          <p:cNvPicPr>
            <a:picLocks noChangeAspect="1"/>
          </p:cNvPicPr>
          <p:nvPr/>
        </p:nvPicPr>
        <p:blipFill>
          <a:blip r:embed="rId3"/>
          <a:stretch>
            <a:fillRect/>
          </a:stretch>
        </p:blipFill>
        <p:spPr>
          <a:xfrm>
            <a:off x="3401934" y="2277222"/>
            <a:ext cx="163860" cy="163860"/>
          </a:xfrm>
          <a:prstGeom prst="rect">
            <a:avLst/>
          </a:prstGeom>
        </p:spPr>
      </p:pic>
      <p:sp>
        <p:nvSpPr>
          <p:cNvPr id="19" name="Feature row"/>
          <p:cNvSpPr txBox="1"/>
          <p:nvPr/>
        </p:nvSpPr>
        <p:spPr>
          <a:xfrm>
            <a:off x="3730752" y="2194560"/>
            <a:ext cx="3474720" cy="329184"/>
          </a:xfrm>
          <a:prstGeom prst="rect">
            <a:avLst/>
          </a:prstGeom>
          <a:noFill/>
          <a:ln/>
        </p:spPr>
        <p:txBody>
          <a:bodyPr wrap="square" lIns="0" tIns="0" rIns="0" bIns="0" rtlCol="0" anchor="ctr"/>
          <a:lstStyle/>
          <a:p>
            <a:pPr indent="0" marL="0">
              <a:buNone/>
            </a:pPr>
            <a:r>
              <a:rPr lang="en-US" sz="1400" dirty="0">
                <a:solidFill>
                  <a:schemeClr val="tx1"/>
                </a:solidFill>
              </a:rPr>
              <a:t>Crops: what to grow and when</a:t>
            </a:r>
            <a:endParaRPr lang="en-US" sz="1400" dirty="0"/>
          </a:p>
        </p:txBody>
      </p:sp>
      <p:sp>
        <p:nvSpPr>
          <p:cNvPr id="20" name="Icon circle"/>
          <p:cNvSpPr/>
          <p:nvPr/>
        </p:nvSpPr>
        <p:spPr>
          <a:xfrm>
            <a:off x="3337560" y="2578608"/>
            <a:ext cx="292608" cy="292608"/>
          </a:xfrm>
          <a:prstGeom prst="ellipse">
            <a:avLst/>
          </a:prstGeom>
          <a:solidFill>
            <a:schemeClr val="accent1"/>
          </a:solidFill>
          <a:ln w="12700">
            <a:solidFill>
              <a:schemeClr val="accent1"/>
            </a:solidFill>
            <a:prstDash val="solid"/>
          </a:ln>
        </p:spPr>
      </p:sp>
      <p:pic>
        <p:nvPicPr>
          <p:cNvPr id="21" name="Image 3" descr="icon">    </p:cNvPr>
          <p:cNvPicPr>
            <a:picLocks noChangeAspect="1"/>
          </p:cNvPicPr>
          <p:nvPr/>
        </p:nvPicPr>
        <p:blipFill>
          <a:blip r:embed="rId4"/>
          <a:stretch>
            <a:fillRect/>
          </a:stretch>
        </p:blipFill>
        <p:spPr>
          <a:xfrm>
            <a:off x="3401934" y="2642982"/>
            <a:ext cx="163860" cy="163860"/>
          </a:xfrm>
          <a:prstGeom prst="rect">
            <a:avLst/>
          </a:prstGeom>
        </p:spPr>
      </p:pic>
      <p:sp>
        <p:nvSpPr>
          <p:cNvPr id="22" name="Feature row"/>
          <p:cNvSpPr txBox="1"/>
          <p:nvPr/>
        </p:nvSpPr>
        <p:spPr>
          <a:xfrm>
            <a:off x="3730752" y="2560320"/>
            <a:ext cx="3474720" cy="329184"/>
          </a:xfrm>
          <a:prstGeom prst="rect">
            <a:avLst/>
          </a:prstGeom>
          <a:noFill/>
          <a:ln/>
        </p:spPr>
        <p:txBody>
          <a:bodyPr wrap="square" lIns="0" tIns="0" rIns="0" bIns="0" rtlCol="0" anchor="ctr"/>
          <a:lstStyle/>
          <a:p>
            <a:pPr indent="0" marL="0">
              <a:buNone/>
            </a:pPr>
            <a:r>
              <a:rPr lang="en-US" sz="1400" dirty="0">
                <a:solidFill>
                  <a:schemeClr val="tx1"/>
                </a:solidFill>
              </a:rPr>
              <a:t>Pests and diseases: send a photo, get a diagnosis</a:t>
            </a:r>
            <a:endParaRPr lang="en-US" sz="1400" dirty="0"/>
          </a:p>
        </p:txBody>
      </p:sp>
      <p:sp>
        <p:nvSpPr>
          <p:cNvPr id="23" name="Icon circle"/>
          <p:cNvSpPr/>
          <p:nvPr/>
        </p:nvSpPr>
        <p:spPr>
          <a:xfrm>
            <a:off x="3337560" y="2944368"/>
            <a:ext cx="292608" cy="292608"/>
          </a:xfrm>
          <a:prstGeom prst="ellipse">
            <a:avLst/>
          </a:prstGeom>
          <a:solidFill>
            <a:schemeClr val="accent1"/>
          </a:solidFill>
          <a:ln w="12700">
            <a:solidFill>
              <a:schemeClr val="accent1"/>
            </a:solidFill>
            <a:prstDash val="solid"/>
          </a:ln>
        </p:spPr>
      </p:sp>
      <p:pic>
        <p:nvPicPr>
          <p:cNvPr id="24" name="Image 4" descr="icon">    </p:cNvPr>
          <p:cNvPicPr>
            <a:picLocks noChangeAspect="1"/>
          </p:cNvPicPr>
          <p:nvPr/>
        </p:nvPicPr>
        <p:blipFill>
          <a:blip r:embed="rId5"/>
          <a:stretch>
            <a:fillRect/>
          </a:stretch>
        </p:blipFill>
        <p:spPr>
          <a:xfrm>
            <a:off x="3401934" y="3008742"/>
            <a:ext cx="163860" cy="163860"/>
          </a:xfrm>
          <a:prstGeom prst="rect">
            <a:avLst/>
          </a:prstGeom>
        </p:spPr>
      </p:pic>
      <p:sp>
        <p:nvSpPr>
          <p:cNvPr id="25" name="Feature row"/>
          <p:cNvSpPr txBox="1"/>
          <p:nvPr/>
        </p:nvSpPr>
        <p:spPr>
          <a:xfrm>
            <a:off x="3730752" y="2926080"/>
            <a:ext cx="3474720" cy="329184"/>
          </a:xfrm>
          <a:prstGeom prst="rect">
            <a:avLst/>
          </a:prstGeom>
          <a:noFill/>
          <a:ln/>
        </p:spPr>
        <p:txBody>
          <a:bodyPr wrap="square" lIns="0" tIns="0" rIns="0" bIns="0" rtlCol="0" anchor="ctr"/>
          <a:lstStyle/>
          <a:p>
            <a:pPr indent="0" marL="0">
              <a:buNone/>
            </a:pPr>
            <a:r>
              <a:rPr lang="en-US" sz="1400" dirty="0">
                <a:solidFill>
                  <a:schemeClr val="tx1"/>
                </a:solidFill>
              </a:rPr>
              <a:t>Fertilisers: the right dose and timing</a:t>
            </a:r>
            <a:endParaRPr lang="en-US" sz="1400" dirty="0"/>
          </a:p>
        </p:txBody>
      </p:sp>
      <p:sp>
        <p:nvSpPr>
          <p:cNvPr id="26" name="Icon circle"/>
          <p:cNvSpPr/>
          <p:nvPr/>
        </p:nvSpPr>
        <p:spPr>
          <a:xfrm>
            <a:off x="3337560" y="3310128"/>
            <a:ext cx="292608" cy="292608"/>
          </a:xfrm>
          <a:prstGeom prst="ellipse">
            <a:avLst/>
          </a:prstGeom>
          <a:solidFill>
            <a:schemeClr val="accent1"/>
          </a:solidFill>
          <a:ln w="12700">
            <a:solidFill>
              <a:schemeClr val="accent1"/>
            </a:solidFill>
            <a:prstDash val="solid"/>
          </a:ln>
        </p:spPr>
      </p:sp>
      <p:pic>
        <p:nvPicPr>
          <p:cNvPr id="27" name="Image 5" descr="icon">    </p:cNvPr>
          <p:cNvPicPr>
            <a:picLocks noChangeAspect="1"/>
          </p:cNvPicPr>
          <p:nvPr/>
        </p:nvPicPr>
        <p:blipFill>
          <a:blip r:embed="rId6"/>
          <a:stretch>
            <a:fillRect/>
          </a:stretch>
        </p:blipFill>
        <p:spPr>
          <a:xfrm>
            <a:off x="3401934" y="3374502"/>
            <a:ext cx="163860" cy="163860"/>
          </a:xfrm>
          <a:prstGeom prst="rect">
            <a:avLst/>
          </a:prstGeom>
        </p:spPr>
      </p:pic>
      <p:sp>
        <p:nvSpPr>
          <p:cNvPr id="28" name="Feature row"/>
          <p:cNvSpPr txBox="1"/>
          <p:nvPr/>
        </p:nvSpPr>
        <p:spPr>
          <a:xfrm>
            <a:off x="3730752" y="3291840"/>
            <a:ext cx="3474720" cy="329184"/>
          </a:xfrm>
          <a:prstGeom prst="rect">
            <a:avLst/>
          </a:prstGeom>
          <a:noFill/>
          <a:ln/>
        </p:spPr>
        <p:txBody>
          <a:bodyPr wrap="square" lIns="0" tIns="0" rIns="0" bIns="0" rtlCol="0" anchor="ctr"/>
          <a:lstStyle/>
          <a:p>
            <a:pPr indent="0" marL="0">
              <a:buNone/>
            </a:pPr>
            <a:r>
              <a:rPr lang="en-US" sz="1400" dirty="0">
                <a:solidFill>
                  <a:schemeClr val="tx1"/>
                </a:solidFill>
              </a:rPr>
              <a:t>Weeds: identify and control them</a:t>
            </a:r>
            <a:endParaRPr lang="en-US" sz="1400" dirty="0"/>
          </a:p>
        </p:txBody>
      </p:sp>
      <p:sp>
        <p:nvSpPr>
          <p:cNvPr id="29" name="Icon circle"/>
          <p:cNvSpPr/>
          <p:nvPr/>
        </p:nvSpPr>
        <p:spPr>
          <a:xfrm>
            <a:off x="3337560" y="3675888"/>
            <a:ext cx="292608" cy="292608"/>
          </a:xfrm>
          <a:prstGeom prst="ellipse">
            <a:avLst/>
          </a:prstGeom>
          <a:solidFill>
            <a:schemeClr val="accent1"/>
          </a:solidFill>
          <a:ln w="12700">
            <a:solidFill>
              <a:schemeClr val="accent1"/>
            </a:solidFill>
            <a:prstDash val="solid"/>
          </a:ln>
        </p:spPr>
      </p:sp>
      <p:pic>
        <p:nvPicPr>
          <p:cNvPr id="30" name="Image 6" descr="icon">    </p:cNvPr>
          <p:cNvPicPr>
            <a:picLocks noChangeAspect="1"/>
          </p:cNvPicPr>
          <p:nvPr/>
        </p:nvPicPr>
        <p:blipFill>
          <a:blip r:embed="rId7"/>
          <a:stretch>
            <a:fillRect/>
          </a:stretch>
        </p:blipFill>
        <p:spPr>
          <a:xfrm>
            <a:off x="3401934" y="3740262"/>
            <a:ext cx="163860" cy="163860"/>
          </a:xfrm>
          <a:prstGeom prst="rect">
            <a:avLst/>
          </a:prstGeom>
        </p:spPr>
      </p:pic>
      <p:sp>
        <p:nvSpPr>
          <p:cNvPr id="31" name="Feature row"/>
          <p:cNvSpPr txBox="1"/>
          <p:nvPr/>
        </p:nvSpPr>
        <p:spPr>
          <a:xfrm>
            <a:off x="3730752" y="3657600"/>
            <a:ext cx="3474720" cy="329184"/>
          </a:xfrm>
          <a:prstGeom prst="rect">
            <a:avLst/>
          </a:prstGeom>
          <a:noFill/>
          <a:ln/>
        </p:spPr>
        <p:txBody>
          <a:bodyPr wrap="square" lIns="0" tIns="0" rIns="0" bIns="0" rtlCol="0" anchor="ctr"/>
          <a:lstStyle/>
          <a:p>
            <a:pPr indent="0" marL="0">
              <a:buNone/>
            </a:pPr>
            <a:r>
              <a:rPr lang="en-US" sz="1400" dirty="0">
                <a:solidFill>
                  <a:schemeClr val="tx1"/>
                </a:solidFill>
              </a:rPr>
              <a:t>Weather alerts and mandi prices</a:t>
            </a:r>
            <a:endParaRPr lang="en-US" sz="1400" dirty="0"/>
          </a:p>
        </p:txBody>
      </p:sp>
      <p:sp>
        <p:nvSpPr>
          <p:cNvPr id="32" name="Icon circle"/>
          <p:cNvSpPr/>
          <p:nvPr/>
        </p:nvSpPr>
        <p:spPr>
          <a:xfrm>
            <a:off x="3337560" y="4041648"/>
            <a:ext cx="292608" cy="292608"/>
          </a:xfrm>
          <a:prstGeom prst="ellipse">
            <a:avLst/>
          </a:prstGeom>
          <a:solidFill>
            <a:schemeClr val="accent1"/>
          </a:solidFill>
          <a:ln w="12700">
            <a:solidFill>
              <a:schemeClr val="accent1"/>
            </a:solidFill>
            <a:prstDash val="solid"/>
          </a:ln>
        </p:spPr>
      </p:sp>
      <p:pic>
        <p:nvPicPr>
          <p:cNvPr id="33" name="Image 7" descr="icon">    </p:cNvPr>
          <p:cNvPicPr>
            <a:picLocks noChangeAspect="1"/>
          </p:cNvPicPr>
          <p:nvPr/>
        </p:nvPicPr>
        <p:blipFill>
          <a:blip r:embed="rId8"/>
          <a:stretch>
            <a:fillRect/>
          </a:stretch>
        </p:blipFill>
        <p:spPr>
          <a:xfrm>
            <a:off x="3401934" y="4106022"/>
            <a:ext cx="163860" cy="163860"/>
          </a:xfrm>
          <a:prstGeom prst="rect">
            <a:avLst/>
          </a:prstGeom>
        </p:spPr>
      </p:pic>
      <p:sp>
        <p:nvSpPr>
          <p:cNvPr id="34" name="Feature row"/>
          <p:cNvSpPr txBox="1"/>
          <p:nvPr/>
        </p:nvSpPr>
        <p:spPr>
          <a:xfrm>
            <a:off x="3730752" y="4023360"/>
            <a:ext cx="3474720" cy="329184"/>
          </a:xfrm>
          <a:prstGeom prst="rect">
            <a:avLst/>
          </a:prstGeom>
          <a:noFill/>
          <a:ln/>
        </p:spPr>
        <p:txBody>
          <a:bodyPr wrap="square" lIns="0" tIns="0" rIns="0" bIns="0" rtlCol="0" anchor="ctr"/>
          <a:lstStyle/>
          <a:p>
            <a:pPr indent="0" marL="0">
              <a:buNone/>
            </a:pPr>
            <a:r>
              <a:rPr lang="en-US" sz="1400" dirty="0">
                <a:solidFill>
                  <a:schemeClr val="tx1"/>
                </a:solidFill>
              </a:rPr>
              <a:t>Schemes and insurance in simple words</a:t>
            </a:r>
            <a:endParaRPr lang="en-US" sz="1400" dirty="0"/>
          </a:p>
        </p:txBody>
      </p:sp>
      <p:sp>
        <p:nvSpPr>
          <p:cNvPr id="35" name="More solutions card"/>
          <p:cNvSpPr/>
          <p:nvPr/>
        </p:nvSpPr>
        <p:spPr>
          <a:xfrm>
            <a:off x="7498080" y="1554480"/>
            <a:ext cx="4142232" cy="3017520"/>
          </a:xfrm>
          <a:prstGeom prst="roundRect">
            <a:avLst>
              <a:gd name="adj" fmla="val 3030"/>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36" name="Icon circle"/>
          <p:cNvSpPr/>
          <p:nvPr/>
        </p:nvSpPr>
        <p:spPr>
          <a:xfrm>
            <a:off x="7680960" y="1645920"/>
            <a:ext cx="420624" cy="420624"/>
          </a:xfrm>
          <a:prstGeom prst="ellipse">
            <a:avLst/>
          </a:prstGeom>
          <a:solidFill>
            <a:schemeClr val="accent2"/>
          </a:solidFill>
          <a:ln w="12700">
            <a:solidFill>
              <a:schemeClr val="accent2"/>
            </a:solidFill>
            <a:prstDash val="solid"/>
          </a:ln>
        </p:spPr>
      </p:sp>
      <p:pic>
        <p:nvPicPr>
          <p:cNvPr id="37" name="Image 8" descr="icon">    </p:cNvPr>
          <p:cNvPicPr>
            <a:picLocks noChangeAspect="1"/>
          </p:cNvPicPr>
          <p:nvPr/>
        </p:nvPicPr>
        <p:blipFill>
          <a:blip r:embed="rId9"/>
          <a:stretch>
            <a:fillRect/>
          </a:stretch>
        </p:blipFill>
        <p:spPr>
          <a:xfrm>
            <a:off x="7773497" y="1738457"/>
            <a:ext cx="235549" cy="235549"/>
          </a:xfrm>
          <a:prstGeom prst="rect">
            <a:avLst/>
          </a:prstGeom>
        </p:spPr>
      </p:pic>
      <p:sp>
        <p:nvSpPr>
          <p:cNvPr id="38" name="Card header"/>
          <p:cNvSpPr txBox="1"/>
          <p:nvPr/>
        </p:nvSpPr>
        <p:spPr>
          <a:xfrm>
            <a:off x="8229600" y="1627632"/>
            <a:ext cx="3291840" cy="457200"/>
          </a:xfrm>
          <a:prstGeom prst="rect">
            <a:avLst/>
          </a:prstGeom>
          <a:noFill/>
          <a:ln/>
        </p:spPr>
        <p:txBody>
          <a:bodyPr wrap="square" lIns="0" tIns="0" rIns="0" bIns="0" rtlCol="0" anchor="ctr"/>
          <a:lstStyle/>
          <a:p>
            <a:pPr indent="0" marL="0">
              <a:buNone/>
            </a:pPr>
            <a:r>
              <a:rPr lang="en-US" sz="1700" b="1" dirty="0">
                <a:solidFill>
                  <a:schemeClr val="tx2"/>
                </a:solidFill>
              </a:rPr>
              <a:t>More solutions for farmers</a:t>
            </a:r>
            <a:endParaRPr lang="en-US" sz="1700" dirty="0"/>
          </a:p>
        </p:txBody>
      </p:sp>
      <p:sp>
        <p:nvSpPr>
          <p:cNvPr id="39" name="More solutions list"/>
          <p:cNvSpPr txBox="1"/>
          <p:nvPr/>
        </p:nvSpPr>
        <p:spPr>
          <a:xfrm>
            <a:off x="7680960" y="2176272"/>
            <a:ext cx="3840480" cy="2331720"/>
          </a:xfrm>
          <a:prstGeom prst="rect">
            <a:avLst/>
          </a:prstGeom>
          <a:noFill/>
          <a:ln/>
        </p:spPr>
        <p:txBody>
          <a:bodyPr wrap="square" lIns="0" tIns="0" rIns="0" bIns="0" rtlCol="0" anchor="t"/>
          <a:lstStyle/>
          <a:p>
            <a:pPr marL="177800" indent="-177800">
              <a:buSzPct val="100000"/>
              <a:buChar char="•"/>
            </a:pPr>
            <a:r>
              <a:rPr lang="en-US" sz="1400" b="1" dirty="0">
                <a:solidFill>
                  <a:schemeClr val="accent1"/>
                </a:solidFill>
              </a:rPr>
              <a:t>Price advisor: </a:t>
            </a:r>
            <a:pPr indent="0" marL="0">
              <a:spcAft>
                <a:spcPts val="200"/>
              </a:spcAft>
              <a:buNone/>
            </a:pPr>
            <a:r>
              <a:rPr lang="en-US" sz="1400" dirty="0">
                <a:solidFill>
                  <a:schemeClr val="tx1"/>
                </a:solidFill>
              </a:rPr>
              <a:t>forecasts and sell-or-store alerts</a:t>
            </a:r>
            <a:endParaRPr lang="en-US" sz="1400" dirty="0"/>
          </a:p>
          <a:p>
            <a:pPr marL="177800" indent="-177800">
              <a:buSzPct val="100000"/>
              <a:buChar char="•"/>
            </a:pPr>
            <a:r>
              <a:rPr lang="en-US" sz="1400" b="1" dirty="0">
                <a:solidFill>
                  <a:schemeClr val="accent1"/>
                </a:solidFill>
              </a:rPr>
              <a:t>Early warnings: </a:t>
            </a:r>
            <a:pPr indent="0" marL="0">
              <a:spcAft>
                <a:spcPts val="200"/>
              </a:spcAft>
              <a:buNone/>
            </a:pPr>
            <a:r>
              <a:rPr lang="en-US" sz="1400" dirty="0">
                <a:solidFill>
                  <a:schemeClr val="tx1"/>
                </a:solidFill>
              </a:rPr>
              <a:t>weather and pest alerts by SMS or voice</a:t>
            </a:r>
            <a:endParaRPr lang="en-US" sz="1400" dirty="0"/>
          </a:p>
          <a:p>
            <a:pPr marL="177800" indent="-177800">
              <a:buSzPct val="100000"/>
              <a:buChar char="•"/>
            </a:pPr>
            <a:r>
              <a:rPr lang="en-US" sz="1400" b="1" dirty="0">
                <a:solidFill>
                  <a:schemeClr val="accent1"/>
                </a:solidFill>
              </a:rPr>
              <a:t>Precision inputs: </a:t>
            </a:r>
            <a:pPr indent="0" marL="0">
              <a:spcAft>
                <a:spcPts val="200"/>
              </a:spcAft>
              <a:buNone/>
            </a:pPr>
            <a:r>
              <a:rPr lang="en-US" sz="1400" dirty="0">
                <a:solidFill>
                  <a:schemeClr val="tx1"/>
                </a:solidFill>
              </a:rPr>
              <a:t>right water, fertiliser and spray</a:t>
            </a:r>
            <a:endParaRPr lang="en-US" sz="1400" dirty="0"/>
          </a:p>
          <a:p>
            <a:pPr marL="177800" indent="-177800">
              <a:buSzPct val="100000"/>
              <a:buChar char="•"/>
            </a:pPr>
            <a:r>
              <a:rPr lang="en-US" sz="1400" b="1" dirty="0">
                <a:solidFill>
                  <a:schemeClr val="accent1"/>
                </a:solidFill>
              </a:rPr>
              <a:t>Faster insurance: </a:t>
            </a:r>
            <a:pPr indent="0" marL="0">
              <a:spcAft>
                <a:spcPts val="200"/>
              </a:spcAft>
              <a:buNone/>
            </a:pPr>
            <a:r>
              <a:rPr lang="en-US" sz="1400" dirty="0">
                <a:solidFill>
                  <a:schemeClr val="tx1"/>
                </a:solidFill>
              </a:rPr>
              <a:t>satellite yield estimates speed up claims</a:t>
            </a:r>
            <a:endParaRPr lang="en-US" sz="1400" dirty="0"/>
          </a:p>
          <a:p>
            <a:pPr marL="177800" indent="-177800">
              <a:buSzPct val="100000"/>
              <a:buChar char="•"/>
            </a:pPr>
            <a:r>
              <a:rPr lang="en-US" sz="1400" b="1" dirty="0">
                <a:solidFill>
                  <a:schemeClr val="accent1"/>
                </a:solidFill>
              </a:rPr>
              <a:t>Shared AI services: </a:t>
            </a:r>
            <a:pPr indent="0" marL="0">
              <a:spcAft>
                <a:spcPts val="200"/>
              </a:spcAft>
              <a:buNone/>
            </a:pPr>
            <a:r>
              <a:rPr lang="en-US" sz="1400" dirty="0">
                <a:solidFill>
                  <a:schemeClr val="tx1"/>
                </a:solidFill>
              </a:rPr>
              <a:t>producer groups hire advice by the acre</a:t>
            </a:r>
            <a:endParaRPr lang="en-US" sz="1400" dirty="0"/>
          </a:p>
          <a:p>
            <a:pPr marL="177800" indent="-177800">
              <a:buSzPct val="100000"/>
              <a:buChar char="•"/>
            </a:pPr>
            <a:r>
              <a:rPr lang="en-US" sz="1400" b="1" dirty="0">
                <a:solidFill>
                  <a:schemeClr val="accent1"/>
                </a:solidFill>
              </a:rPr>
              <a:t>Agentic AI helper: </a:t>
            </a:r>
            <a:pPr indent="0" marL="0">
              <a:spcAft>
                <a:spcPts val="200"/>
              </a:spcAft>
              <a:buNone/>
            </a:pPr>
            <a:r>
              <a:rPr lang="en-US" sz="1400" dirty="0">
                <a:solidFill>
                  <a:schemeClr val="tx1"/>
                </a:solidFill>
              </a:rPr>
              <a:t>checks weather, prices and transport for a goal</a:t>
            </a:r>
            <a:endParaRPr lang="en-US" sz="1400" dirty="0"/>
          </a:p>
        </p:txBody>
      </p:sp>
      <p:sp>
        <p:nvSpPr>
          <p:cNvPr id="40" name="Under the hood card"/>
          <p:cNvSpPr/>
          <p:nvPr/>
        </p:nvSpPr>
        <p:spPr>
          <a:xfrm>
            <a:off x="548640" y="4709160"/>
            <a:ext cx="3520440" cy="1417320"/>
          </a:xfrm>
          <a:prstGeom prst="roundRect">
            <a:avLst>
              <a:gd name="adj" fmla="val 6452"/>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41" name="Icon circle"/>
          <p:cNvSpPr/>
          <p:nvPr/>
        </p:nvSpPr>
        <p:spPr>
          <a:xfrm>
            <a:off x="731520" y="4782312"/>
            <a:ext cx="420624" cy="420624"/>
          </a:xfrm>
          <a:prstGeom prst="ellipse">
            <a:avLst/>
          </a:prstGeom>
          <a:solidFill>
            <a:schemeClr val="accent1"/>
          </a:solidFill>
          <a:ln w="12700">
            <a:solidFill>
              <a:schemeClr val="accent1"/>
            </a:solidFill>
            <a:prstDash val="solid"/>
          </a:ln>
        </p:spPr>
      </p:sp>
      <p:pic>
        <p:nvPicPr>
          <p:cNvPr id="42" name="Image 9" descr="icon">    </p:cNvPr>
          <p:cNvPicPr>
            <a:picLocks noChangeAspect="1"/>
          </p:cNvPicPr>
          <p:nvPr/>
        </p:nvPicPr>
        <p:blipFill>
          <a:blip r:embed="rId10"/>
          <a:stretch>
            <a:fillRect/>
          </a:stretch>
        </p:blipFill>
        <p:spPr>
          <a:xfrm>
            <a:off x="824057" y="4874849"/>
            <a:ext cx="235549" cy="235549"/>
          </a:xfrm>
          <a:prstGeom prst="rect">
            <a:avLst/>
          </a:prstGeom>
        </p:spPr>
      </p:pic>
      <p:sp>
        <p:nvSpPr>
          <p:cNvPr id="43" name="Card header"/>
          <p:cNvSpPr txBox="1"/>
          <p:nvPr/>
        </p:nvSpPr>
        <p:spPr>
          <a:xfrm>
            <a:off x="1280160" y="4764024"/>
            <a:ext cx="2651760" cy="457200"/>
          </a:xfrm>
          <a:prstGeom prst="rect">
            <a:avLst/>
          </a:prstGeom>
          <a:noFill/>
          <a:ln/>
        </p:spPr>
        <p:txBody>
          <a:bodyPr wrap="square" lIns="0" tIns="0" rIns="0" bIns="0" rtlCol="0" anchor="ctr"/>
          <a:lstStyle/>
          <a:p>
            <a:pPr indent="0" marL="0">
              <a:buNone/>
            </a:pPr>
            <a:r>
              <a:rPr lang="en-US" sz="1700" b="1" dirty="0">
                <a:solidFill>
                  <a:schemeClr val="tx2"/>
                </a:solidFill>
              </a:rPr>
              <a:t>Under the hood</a:t>
            </a:r>
            <a:endParaRPr lang="en-US" sz="1700" dirty="0"/>
          </a:p>
        </p:txBody>
      </p:sp>
      <p:sp>
        <p:nvSpPr>
          <p:cNvPr id="44" name="Under the hood text"/>
          <p:cNvSpPr txBox="1"/>
          <p:nvPr/>
        </p:nvSpPr>
        <p:spPr>
          <a:xfrm>
            <a:off x="731520" y="5285232"/>
            <a:ext cx="3200400" cy="822960"/>
          </a:xfrm>
          <a:prstGeom prst="rect">
            <a:avLst/>
          </a:prstGeom>
          <a:noFill/>
          <a:ln/>
        </p:spPr>
        <p:txBody>
          <a:bodyPr wrap="square" lIns="0" tIns="0" rIns="0" bIns="0" rtlCol="0" anchor="t"/>
          <a:lstStyle/>
          <a:p>
            <a:pPr indent="0" marL="0">
              <a:buNone/>
            </a:pPr>
            <a:r>
              <a:rPr lang="en-US" sz="1400" dirty="0">
                <a:solidFill>
                  <a:schemeClr val="tx1"/>
                </a:solidFill>
              </a:rPr>
              <a:t>An LLM answers; a knowledge graph of crops, pests and treatments keeps it grounded; an expert is one tap away.</a:t>
            </a:r>
            <a:endParaRPr lang="en-US" sz="1400" dirty="0"/>
          </a:p>
        </p:txBody>
      </p:sp>
      <p:sp>
        <p:nvSpPr>
          <p:cNvPr id="45" name="Already working card"/>
          <p:cNvSpPr/>
          <p:nvPr/>
        </p:nvSpPr>
        <p:spPr>
          <a:xfrm>
            <a:off x="4206240" y="4709160"/>
            <a:ext cx="3520440" cy="1417320"/>
          </a:xfrm>
          <a:prstGeom prst="roundRect">
            <a:avLst>
              <a:gd name="adj" fmla="val 6452"/>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46" name="Icon circle"/>
          <p:cNvSpPr/>
          <p:nvPr/>
        </p:nvSpPr>
        <p:spPr>
          <a:xfrm>
            <a:off x="4389120" y="4782312"/>
            <a:ext cx="420624" cy="420624"/>
          </a:xfrm>
          <a:prstGeom prst="ellipse">
            <a:avLst/>
          </a:prstGeom>
          <a:solidFill>
            <a:schemeClr val="accent1"/>
          </a:solidFill>
          <a:ln w="12700">
            <a:solidFill>
              <a:schemeClr val="accent1"/>
            </a:solidFill>
            <a:prstDash val="solid"/>
          </a:ln>
        </p:spPr>
      </p:sp>
      <p:pic>
        <p:nvPicPr>
          <p:cNvPr id="47" name="Image 10" descr="icon">    </p:cNvPr>
          <p:cNvPicPr>
            <a:picLocks noChangeAspect="1"/>
          </p:cNvPicPr>
          <p:nvPr/>
        </p:nvPicPr>
        <p:blipFill>
          <a:blip r:embed="rId11"/>
          <a:stretch>
            <a:fillRect/>
          </a:stretch>
        </p:blipFill>
        <p:spPr>
          <a:xfrm>
            <a:off x="4481657" y="4874849"/>
            <a:ext cx="235549" cy="235549"/>
          </a:xfrm>
          <a:prstGeom prst="rect">
            <a:avLst/>
          </a:prstGeom>
        </p:spPr>
      </p:pic>
      <p:sp>
        <p:nvSpPr>
          <p:cNvPr id="48" name="Card header"/>
          <p:cNvSpPr txBox="1"/>
          <p:nvPr/>
        </p:nvSpPr>
        <p:spPr>
          <a:xfrm>
            <a:off x="4937760" y="4764024"/>
            <a:ext cx="2651760" cy="457200"/>
          </a:xfrm>
          <a:prstGeom prst="rect">
            <a:avLst/>
          </a:prstGeom>
          <a:noFill/>
          <a:ln/>
        </p:spPr>
        <p:txBody>
          <a:bodyPr wrap="square" lIns="0" tIns="0" rIns="0" bIns="0" rtlCol="0" anchor="ctr"/>
          <a:lstStyle/>
          <a:p>
            <a:pPr indent="0" marL="0">
              <a:buNone/>
            </a:pPr>
            <a:r>
              <a:rPr lang="en-US" sz="1700" b="1" dirty="0">
                <a:solidFill>
                  <a:schemeClr val="tx2"/>
                </a:solidFill>
              </a:rPr>
              <a:t>Already working in India</a:t>
            </a:r>
            <a:endParaRPr lang="en-US" sz="1700" dirty="0"/>
          </a:p>
        </p:txBody>
      </p:sp>
      <p:sp>
        <p:nvSpPr>
          <p:cNvPr id="49" name="Already working text"/>
          <p:cNvSpPr txBox="1"/>
          <p:nvPr/>
        </p:nvSpPr>
        <p:spPr>
          <a:xfrm>
            <a:off x="4389120" y="5285232"/>
            <a:ext cx="3200400" cy="822960"/>
          </a:xfrm>
          <a:prstGeom prst="rect">
            <a:avLst/>
          </a:prstGeom>
          <a:noFill/>
          <a:ln/>
        </p:spPr>
        <p:txBody>
          <a:bodyPr wrap="square" lIns="0" tIns="0" rIns="0" bIns="0" rtlCol="0" anchor="t"/>
          <a:lstStyle/>
          <a:p>
            <a:pPr indent="0" marL="0">
              <a:buNone/>
            </a:pPr>
            <a:r>
              <a:rPr lang="en-US" sz="1400" dirty="0">
                <a:solidFill>
                  <a:schemeClr val="tx1"/>
                </a:solidFill>
              </a:rPr>
              <a:t>MahaVISTAAR-AI: voice or text in local languages, 10 lakh+ downloads. Bharat-VISTAAR works on feature phones.</a:t>
            </a:r>
            <a:endParaRPr lang="en-US" sz="1400" dirty="0"/>
          </a:p>
        </p:txBody>
      </p:sp>
      <p:sp>
        <p:nvSpPr>
          <p:cNvPr id="50" name="Concepts card"/>
          <p:cNvSpPr/>
          <p:nvPr/>
        </p:nvSpPr>
        <p:spPr>
          <a:xfrm>
            <a:off x="7863840" y="4709160"/>
            <a:ext cx="3776472" cy="1417320"/>
          </a:xfrm>
          <a:prstGeom prst="roundRect">
            <a:avLst>
              <a:gd name="adj" fmla="val 6452"/>
            </a:avLst>
          </a:prstGeom>
          <a:solidFill>
            <a:schemeClr val="bg2"/>
          </a:solidFill>
          <a:ln w="12700">
            <a:solidFill>
              <a:schemeClr val="accent6"/>
            </a:solidFill>
            <a:prstDash val="solid"/>
          </a:ln>
        </p:spPr>
      </p:sp>
      <p:sp>
        <p:nvSpPr>
          <p:cNvPr id="51" name="Icon circle"/>
          <p:cNvSpPr/>
          <p:nvPr/>
        </p:nvSpPr>
        <p:spPr>
          <a:xfrm>
            <a:off x="8046720" y="4782312"/>
            <a:ext cx="402336" cy="402336"/>
          </a:xfrm>
          <a:prstGeom prst="ellipse">
            <a:avLst/>
          </a:prstGeom>
          <a:solidFill>
            <a:schemeClr val="accent1"/>
          </a:solidFill>
          <a:ln w="12700">
            <a:solidFill>
              <a:schemeClr val="accent1"/>
            </a:solidFill>
            <a:prstDash val="solid"/>
          </a:ln>
        </p:spPr>
      </p:sp>
      <p:pic>
        <p:nvPicPr>
          <p:cNvPr id="52" name="Image 11" descr="icon">    </p:cNvPr>
          <p:cNvPicPr>
            <a:picLocks noChangeAspect="1"/>
          </p:cNvPicPr>
          <p:nvPr/>
        </p:nvPicPr>
        <p:blipFill>
          <a:blip r:embed="rId12"/>
          <a:stretch>
            <a:fillRect/>
          </a:stretch>
        </p:blipFill>
        <p:spPr>
          <a:xfrm>
            <a:off x="8135234" y="4870826"/>
            <a:ext cx="225308" cy="225308"/>
          </a:xfrm>
          <a:prstGeom prst="rect">
            <a:avLst/>
          </a:prstGeom>
        </p:spPr>
      </p:pic>
      <p:sp>
        <p:nvSpPr>
          <p:cNvPr id="53" name="Concepts header"/>
          <p:cNvSpPr txBox="1"/>
          <p:nvPr/>
        </p:nvSpPr>
        <p:spPr>
          <a:xfrm>
            <a:off x="8558784" y="4754880"/>
            <a:ext cx="2926080" cy="457200"/>
          </a:xfrm>
          <a:prstGeom prst="rect">
            <a:avLst/>
          </a:prstGeom>
          <a:noFill/>
          <a:ln/>
        </p:spPr>
        <p:txBody>
          <a:bodyPr wrap="square" lIns="0" tIns="0" rIns="0" bIns="0" rtlCol="0" anchor="ctr"/>
          <a:lstStyle/>
          <a:p>
            <a:pPr indent="0" marL="0">
              <a:buNone/>
            </a:pPr>
            <a:r>
              <a:rPr lang="en-US" sz="1600" b="1" dirty="0">
                <a:solidFill>
                  <a:schemeClr val="tx2"/>
                </a:solidFill>
              </a:rPr>
              <a:t>Course concepts applied</a:t>
            </a:r>
            <a:endParaRPr lang="en-US" sz="1600" dirty="0"/>
          </a:p>
        </p:txBody>
      </p:sp>
      <p:sp>
        <p:nvSpPr>
          <p:cNvPr id="54" name="Concepts text"/>
          <p:cNvSpPr txBox="1"/>
          <p:nvPr/>
        </p:nvSpPr>
        <p:spPr>
          <a:xfrm>
            <a:off x="8046720" y="5285232"/>
            <a:ext cx="3429000" cy="822960"/>
          </a:xfrm>
          <a:prstGeom prst="rect">
            <a:avLst/>
          </a:prstGeom>
          <a:noFill/>
          <a:ln/>
        </p:spPr>
        <p:txBody>
          <a:bodyPr wrap="square" lIns="0" tIns="0" rIns="0" bIns="0" rtlCol="0" anchor="t"/>
          <a:lstStyle/>
          <a:p>
            <a:pPr indent="0" marL="0">
              <a:buNone/>
            </a:pPr>
            <a:r>
              <a:rPr lang="en-US" sz="1400" dirty="0">
                <a:solidFill>
                  <a:schemeClr val="tx1"/>
                </a:solidFill>
              </a:rPr>
              <a:t>Transformer LLM; multimodal AI; knowledge graph; hybrid recommendation; Edge AI; agentic AI.</a:t>
            </a:r>
            <a:endParaRPr lang="en-US" sz="1400" dirty="0"/>
          </a:p>
        </p:txBody>
      </p:sp>
      <p:sp>
        <p:nvSpPr>
          <p:cNvPr id="55" name="Sources"/>
          <p:cNvSpPr txBox="1"/>
          <p:nvPr/>
        </p:nvSpPr>
        <p:spPr>
          <a:xfrm>
            <a:off x="548640" y="6382512"/>
            <a:ext cx="10515600" cy="310896"/>
          </a:xfrm>
          <a:prstGeom prst="rect">
            <a:avLst/>
          </a:prstGeom>
          <a:noFill/>
          <a:ln/>
        </p:spPr>
        <p:txBody>
          <a:bodyPr wrap="square" lIns="0" tIns="0" rIns="0" bIns="0" rtlCol="0" anchor="ctr"/>
          <a:lstStyle/>
          <a:p>
            <a:pPr algn="l" indent="0" marL="0">
              <a:buNone/>
            </a:pPr>
            <a:r>
              <a:rPr lang="en-US" sz="1000" dirty="0">
                <a:solidFill>
                  <a:srgbClr val="5E6B63"/>
                </a:solidFill>
              </a:rPr>
              <a:t>Sources: The Hitavada (2026); Elets eGov (2025); NITI Aayog Frontier Tech Hub (2026); Bhashini, EkStep. The chat mock-up is illustrative.</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ide title"/>
          <p:cNvSpPr txBox="1"/>
          <p:nvPr/>
        </p:nvSpPr>
        <p:spPr>
          <a:xfrm>
            <a:off x="548640" y="320040"/>
            <a:ext cx="11091672" cy="640080"/>
          </a:xfrm>
          <a:prstGeom prst="rect">
            <a:avLst/>
          </a:prstGeom>
          <a:noFill/>
          <a:ln/>
        </p:spPr>
        <p:txBody>
          <a:bodyPr wrap="square" lIns="0" tIns="0" rIns="0" bIns="0" rtlCol="0" anchor="ctr">
            <a:normAutofit/>
          </a:bodyPr>
          <a:lstStyle/>
          <a:p>
            <a:pPr algn="l" indent="0" marL="0">
              <a:buNone/>
            </a:pPr>
            <a:r>
              <a:rPr lang="en-US" sz="2800" b="1" dirty="0">
                <a:solidFill>
                  <a:schemeClr val="tx2"/>
                </a:solidFill>
              </a:rPr>
              <a:t>Making it work: roadmap, risks and results</a:t>
            </a:r>
            <a:endParaRPr lang="en-US" sz="2800" dirty="0"/>
          </a:p>
        </p:txBody>
      </p:sp>
      <p:sp>
        <p:nvSpPr>
          <p:cNvPr id="3" name="Subtitle"/>
          <p:cNvSpPr txBox="1"/>
          <p:nvPr/>
        </p:nvSpPr>
        <p:spPr>
          <a:xfrm>
            <a:off x="548640" y="987552"/>
            <a:ext cx="11091672" cy="365760"/>
          </a:xfrm>
          <a:prstGeom prst="rect">
            <a:avLst/>
          </a:prstGeom>
          <a:noFill/>
          <a:ln/>
        </p:spPr>
        <p:txBody>
          <a:bodyPr wrap="square" lIns="0" tIns="0" rIns="0" bIns="0" rtlCol="0" anchor="t"/>
          <a:lstStyle/>
          <a:p>
            <a:pPr algn="l" indent="0" marL="0">
              <a:buNone/>
            </a:pPr>
            <a:r>
              <a:rPr lang="en-US" sz="1600" dirty="0">
                <a:solidFill>
                  <a:srgbClr val="5E6B63"/>
                </a:solidFill>
              </a:rPr>
              <a:t>Start small and local, protect farmers' data, and judge success by net household income.</a:t>
            </a:r>
            <a:endParaRPr lang="en-US" sz="1600" dirty="0"/>
          </a:p>
        </p:txBody>
      </p:sp>
      <p:sp>
        <p:nvSpPr>
          <p:cNvPr id="4" name="Roadmap card"/>
          <p:cNvSpPr/>
          <p:nvPr/>
        </p:nvSpPr>
        <p:spPr>
          <a:xfrm>
            <a:off x="548640" y="1600200"/>
            <a:ext cx="3566160" cy="3429000"/>
          </a:xfrm>
          <a:prstGeom prst="roundRect">
            <a:avLst>
              <a:gd name="adj" fmla="val 2667"/>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5" name="Icon circle"/>
          <p:cNvSpPr/>
          <p:nvPr/>
        </p:nvSpPr>
        <p:spPr>
          <a:xfrm>
            <a:off x="731520" y="1709928"/>
            <a:ext cx="420624" cy="420624"/>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24057" y="1802465"/>
            <a:ext cx="235549" cy="235549"/>
          </a:xfrm>
          <a:prstGeom prst="rect">
            <a:avLst/>
          </a:prstGeom>
        </p:spPr>
      </p:pic>
      <p:sp>
        <p:nvSpPr>
          <p:cNvPr id="7" name="Card header"/>
          <p:cNvSpPr txBox="1"/>
          <p:nvPr/>
        </p:nvSpPr>
        <p:spPr>
          <a:xfrm>
            <a:off x="1280160" y="1691640"/>
            <a:ext cx="2697480" cy="457200"/>
          </a:xfrm>
          <a:prstGeom prst="rect">
            <a:avLst/>
          </a:prstGeom>
          <a:noFill/>
          <a:ln/>
        </p:spPr>
        <p:txBody>
          <a:bodyPr wrap="square" lIns="0" tIns="0" rIns="0" bIns="0" rtlCol="0" anchor="ctr"/>
          <a:lstStyle/>
          <a:p>
            <a:pPr indent="0" marL="0">
              <a:buNone/>
            </a:pPr>
            <a:r>
              <a:rPr lang="en-US" sz="1700" b="1" dirty="0">
                <a:solidFill>
                  <a:schemeClr val="tx2"/>
                </a:solidFill>
              </a:rPr>
              <a:t>Roadmap: three horizons</a:t>
            </a:r>
            <a:endParaRPr lang="en-US" sz="1700" dirty="0"/>
          </a:p>
        </p:txBody>
      </p:sp>
      <p:sp>
        <p:nvSpPr>
          <p:cNvPr id="8" name="Bullets"/>
          <p:cNvSpPr txBox="1"/>
          <p:nvPr/>
        </p:nvSpPr>
        <p:spPr>
          <a:xfrm>
            <a:off x="731520" y="2313432"/>
            <a:ext cx="3246120" cy="2606040"/>
          </a:xfrm>
          <a:prstGeom prst="rect">
            <a:avLst/>
          </a:prstGeom>
          <a:noFill/>
          <a:ln/>
        </p:spPr>
        <p:txBody>
          <a:bodyPr wrap="square" lIns="0" tIns="0" rIns="0" bIns="0" rtlCol="0" anchor="t"/>
          <a:lstStyle/>
          <a:p>
            <a:pPr marL="177800" indent="-177800">
              <a:buSzPct val="100000"/>
              <a:buChar char="•"/>
            </a:pPr>
            <a:r>
              <a:rPr lang="en-US" sz="1600" b="1" dirty="0">
                <a:solidFill>
                  <a:schemeClr val="tx1"/>
                </a:solidFill>
              </a:rPr>
              <a:t>Quick wins (0-6 months): </a:t>
            </a:r>
            <a:pPr indent="0" marL="0">
              <a:spcAft>
                <a:spcPts val="900"/>
              </a:spcAft>
              <a:buNone/>
            </a:pPr>
            <a:r>
              <a:rPr lang="en-US" sz="1600" dirty="0">
                <a:solidFill>
                  <a:schemeClr val="tx1"/>
                </a:solidFill>
              </a:rPr>
              <a:t>voice advisory and price alerts</a:t>
            </a:r>
            <a:endParaRPr lang="en-US" sz="1600" dirty="0"/>
          </a:p>
          <a:p>
            <a:pPr marL="177800" indent="-177800">
              <a:buSzPct val="100000"/>
              <a:buChar char="•"/>
            </a:pPr>
            <a:r>
              <a:rPr lang="en-US" sz="1600" b="1" dirty="0">
                <a:solidFill>
                  <a:schemeClr val="tx1"/>
                </a:solidFill>
              </a:rPr>
              <a:t>Core (6-18 months): </a:t>
            </a:r>
            <a:pPr indent="0" marL="0">
              <a:spcAft>
                <a:spcPts val="900"/>
              </a:spcAft>
              <a:buNone/>
            </a:pPr>
            <a:r>
              <a:rPr lang="en-US" sz="1600" dirty="0">
                <a:solidFill>
                  <a:schemeClr val="tx1"/>
                </a:solidFill>
              </a:rPr>
              <a:t>pest early warning, field monitoring, yield models at scale</a:t>
            </a:r>
            <a:endParaRPr lang="en-US" sz="1600" dirty="0"/>
          </a:p>
          <a:p>
            <a:pPr marL="177800" indent="-177800">
              <a:buSzPct val="100000"/>
              <a:buChar char="•"/>
            </a:pPr>
            <a:r>
              <a:rPr lang="en-US" sz="1600" b="1" dirty="0">
                <a:solidFill>
                  <a:schemeClr val="tx1"/>
                </a:solidFill>
              </a:rPr>
              <a:t>Strategic (18-36 months): </a:t>
            </a:r>
            <a:pPr indent="0" marL="0">
              <a:spcAft>
                <a:spcPts val="900"/>
              </a:spcAft>
              <a:buNone/>
            </a:pPr>
            <a:r>
              <a:rPr lang="en-US" sz="1600" dirty="0">
                <a:solidFill>
                  <a:schemeClr val="tx1"/>
                </a:solidFill>
              </a:rPr>
              <a:t>shared AI services and local farm datasets</a:t>
            </a:r>
            <a:endParaRPr lang="en-US" sz="1600" dirty="0"/>
          </a:p>
          <a:p>
            <a:pPr marL="177800" indent="-177800">
              <a:buSzPct val="100000"/>
              <a:buChar char="•"/>
            </a:pPr>
            <a:r>
              <a:rPr lang="en-US" sz="1600" b="1" dirty="0">
                <a:solidFill>
                  <a:schemeClr val="tx1"/>
                </a:solidFill>
              </a:rPr>
              <a:t>Readiness first: </a:t>
            </a:r>
            <a:pPr indent="0" marL="0">
              <a:spcAft>
                <a:spcPts val="900"/>
              </a:spcAft>
              <a:buNone/>
            </a:pPr>
            <a:r>
              <a:rPr lang="en-US" sz="1600" dirty="0">
                <a:solidFill>
                  <a:schemeClr val="tx1"/>
                </a:solidFill>
              </a:rPr>
              <a:t>data, talent and process</a:t>
            </a:r>
            <a:endParaRPr lang="en-US" sz="1600" dirty="0"/>
          </a:p>
        </p:txBody>
      </p:sp>
      <p:sp>
        <p:nvSpPr>
          <p:cNvPr id="9" name="Risks card"/>
          <p:cNvSpPr/>
          <p:nvPr/>
        </p:nvSpPr>
        <p:spPr>
          <a:xfrm>
            <a:off x="4297680" y="1600200"/>
            <a:ext cx="3566160" cy="3429000"/>
          </a:xfrm>
          <a:prstGeom prst="roundRect">
            <a:avLst>
              <a:gd name="adj" fmla="val 2667"/>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10" name="Icon circle"/>
          <p:cNvSpPr/>
          <p:nvPr/>
        </p:nvSpPr>
        <p:spPr>
          <a:xfrm>
            <a:off x="4480560" y="1709928"/>
            <a:ext cx="420624" cy="420624"/>
          </a:xfrm>
          <a:prstGeom prst="ellipse">
            <a:avLst/>
          </a:prstGeom>
          <a:solidFill>
            <a:schemeClr val="accent5"/>
          </a:solidFill>
          <a:ln w="12700">
            <a:solidFill>
              <a:schemeClr val="accent5"/>
            </a:solidFill>
            <a:prstDash val="solid"/>
          </a:ln>
        </p:spPr>
      </p:sp>
      <p:pic>
        <p:nvPicPr>
          <p:cNvPr id="11" name="Image 1" descr="icon">    </p:cNvPr>
          <p:cNvPicPr>
            <a:picLocks noChangeAspect="1"/>
          </p:cNvPicPr>
          <p:nvPr/>
        </p:nvPicPr>
        <p:blipFill>
          <a:blip r:embed="rId2"/>
          <a:stretch>
            <a:fillRect/>
          </a:stretch>
        </p:blipFill>
        <p:spPr>
          <a:xfrm>
            <a:off x="4573097" y="1802465"/>
            <a:ext cx="235549" cy="235549"/>
          </a:xfrm>
          <a:prstGeom prst="rect">
            <a:avLst/>
          </a:prstGeom>
        </p:spPr>
      </p:pic>
      <p:sp>
        <p:nvSpPr>
          <p:cNvPr id="12" name="Card header"/>
          <p:cNvSpPr txBox="1"/>
          <p:nvPr/>
        </p:nvSpPr>
        <p:spPr>
          <a:xfrm>
            <a:off x="5029200" y="1691640"/>
            <a:ext cx="2697480" cy="457200"/>
          </a:xfrm>
          <a:prstGeom prst="rect">
            <a:avLst/>
          </a:prstGeom>
          <a:noFill/>
          <a:ln/>
        </p:spPr>
        <p:txBody>
          <a:bodyPr wrap="square" lIns="0" tIns="0" rIns="0" bIns="0" rtlCol="0" anchor="ctr"/>
          <a:lstStyle/>
          <a:p>
            <a:pPr indent="0" marL="0">
              <a:buNone/>
            </a:pPr>
            <a:r>
              <a:rPr lang="en-US" sz="1700" b="1" dirty="0">
                <a:solidFill>
                  <a:schemeClr val="tx2"/>
                </a:solidFill>
              </a:rPr>
              <a:t>Risks and responsible AI</a:t>
            </a:r>
            <a:endParaRPr lang="en-US" sz="1700" dirty="0"/>
          </a:p>
        </p:txBody>
      </p:sp>
      <p:sp>
        <p:nvSpPr>
          <p:cNvPr id="13" name="Bullets"/>
          <p:cNvSpPr txBox="1"/>
          <p:nvPr/>
        </p:nvSpPr>
        <p:spPr>
          <a:xfrm>
            <a:off x="4480560" y="2313432"/>
            <a:ext cx="3246120" cy="2606040"/>
          </a:xfrm>
          <a:prstGeom prst="rect">
            <a:avLst/>
          </a:prstGeom>
          <a:noFill/>
          <a:ln/>
        </p:spPr>
        <p:txBody>
          <a:bodyPr wrap="square" lIns="0" tIns="0" rIns="0" bIns="0" rtlCol="0" anchor="t"/>
          <a:lstStyle/>
          <a:p>
            <a:pPr marL="177800" indent="-177800">
              <a:buSzPct val="100000"/>
              <a:buChar char="•"/>
            </a:pPr>
            <a:r>
              <a:rPr lang="en-US" sz="1600" b="1" dirty="0">
                <a:solidFill>
                  <a:schemeClr val="tx1"/>
                </a:solidFill>
              </a:rPr>
              <a:t>Bias: </a:t>
            </a:r>
            <a:pPr indent="0" marL="0">
              <a:spcAft>
                <a:spcPts val="900"/>
              </a:spcAft>
              <a:buNone/>
            </a:pPr>
            <a:r>
              <a:rPr lang="en-US" sz="1600" dirty="0">
                <a:solidFill>
                  <a:schemeClr val="tx1"/>
                </a:solidFill>
              </a:rPr>
              <a:t>models trained on one region or crop fail elsewhere</a:t>
            </a:r>
            <a:endParaRPr lang="en-US" sz="1600" dirty="0"/>
          </a:p>
          <a:p>
            <a:pPr marL="177800" indent="-177800">
              <a:buSzPct val="100000"/>
              <a:buChar char="•"/>
            </a:pPr>
            <a:r>
              <a:rPr lang="en-US" sz="1600" b="1" dirty="0">
                <a:solidFill>
                  <a:schemeClr val="tx1"/>
                </a:solidFill>
              </a:rPr>
              <a:t>Privacy: </a:t>
            </a:r>
            <a:pPr indent="0" marL="0">
              <a:spcAft>
                <a:spcPts val="900"/>
              </a:spcAft>
              <a:buNone/>
            </a:pPr>
            <a:r>
              <a:rPr lang="en-US" sz="1600" dirty="0">
                <a:solidFill>
                  <a:schemeClr val="tx1"/>
                </a:solidFill>
              </a:rPr>
              <a:t>farm data stays local (federated learning); 11 crore farmer IDs need consent rules</a:t>
            </a:r>
            <a:endParaRPr lang="en-US" sz="1600" dirty="0"/>
          </a:p>
          <a:p>
            <a:pPr marL="177800" indent="-177800">
              <a:buSzPct val="100000"/>
              <a:buChar char="•"/>
            </a:pPr>
            <a:r>
              <a:rPr lang="en-US" sz="1600" b="1" dirty="0">
                <a:solidFill>
                  <a:schemeClr val="tx1"/>
                </a:solidFill>
              </a:rPr>
              <a:t>Trust: </a:t>
            </a:r>
            <a:pPr indent="0" marL="0">
              <a:spcAft>
                <a:spcPts val="900"/>
              </a:spcAft>
              <a:buNone/>
            </a:pPr>
            <a:r>
              <a:rPr lang="en-US" sz="1600" dirty="0">
                <a:solidFill>
                  <a:schemeClr val="tx1"/>
                </a:solidFill>
              </a:rPr>
              <a:t>ground answers in trusted sources; keep explainable rules</a:t>
            </a:r>
            <a:endParaRPr lang="en-US" sz="1600" dirty="0"/>
          </a:p>
          <a:p>
            <a:pPr marL="177800" indent="-177800">
              <a:buSzPct val="100000"/>
              <a:buChar char="•"/>
            </a:pPr>
            <a:r>
              <a:rPr lang="en-US" sz="1600" b="1" dirty="0">
                <a:solidFill>
                  <a:schemeClr val="tx1"/>
                </a:solidFill>
              </a:rPr>
              <a:t>Access: </a:t>
            </a:r>
            <a:pPr indent="0" marL="0">
              <a:spcAft>
                <a:spcPts val="900"/>
              </a:spcAft>
              <a:buNone/>
            </a:pPr>
            <a:r>
              <a:rPr lang="en-US" sz="1600" dirty="0">
                <a:solidFill>
                  <a:schemeClr val="tx1"/>
                </a:solidFill>
              </a:rPr>
              <a:t>phone ownership is 83.9% for men, 56.2% for women</a:t>
            </a:r>
            <a:endParaRPr lang="en-US" sz="1600" dirty="0"/>
          </a:p>
        </p:txBody>
      </p:sp>
      <p:sp>
        <p:nvSpPr>
          <p:cNvPr id="14" name="Results card"/>
          <p:cNvSpPr/>
          <p:nvPr/>
        </p:nvSpPr>
        <p:spPr>
          <a:xfrm>
            <a:off x="8046720" y="1600200"/>
            <a:ext cx="3593592" cy="3429000"/>
          </a:xfrm>
          <a:prstGeom prst="roundRect">
            <a:avLst>
              <a:gd name="adj" fmla="val 2667"/>
            </a:avLst>
          </a:prstGeom>
          <a:solidFill>
            <a:schemeClr val="bg1"/>
          </a:solidFill>
          <a:ln w="9525">
            <a:solidFill>
              <a:schemeClr val="accent6">
                <a:alpha val="55000"/>
              </a:schemeClr>
            </a:solidFill>
            <a:prstDash val="solid"/>
          </a:ln>
          <a:effectLst>
            <a:outerShdw sx="100000" sy="100000" kx="0" ky="0" algn="bl" rotWithShape="0" blurRad="63500" dist="25400" dir="5400000">
              <a:srgbClr val="000000">
                <a:alpha val="10000"/>
              </a:srgbClr>
            </a:outerShdw>
          </a:effectLst>
        </p:spPr>
      </p:sp>
      <p:sp>
        <p:nvSpPr>
          <p:cNvPr id="15" name="Icon circle"/>
          <p:cNvSpPr/>
          <p:nvPr/>
        </p:nvSpPr>
        <p:spPr>
          <a:xfrm>
            <a:off x="8229600" y="1709928"/>
            <a:ext cx="420624" cy="420624"/>
          </a:xfrm>
          <a:prstGeom prst="ellipse">
            <a:avLst/>
          </a:prstGeom>
          <a:solidFill>
            <a:schemeClr val="accent2"/>
          </a:solidFill>
          <a:ln w="12700">
            <a:solidFill>
              <a:schemeClr val="accent2"/>
            </a:solidFill>
            <a:prstDash val="solid"/>
          </a:ln>
        </p:spPr>
      </p:sp>
      <p:pic>
        <p:nvPicPr>
          <p:cNvPr id="16" name="Image 2" descr="icon">    </p:cNvPr>
          <p:cNvPicPr>
            <a:picLocks noChangeAspect="1"/>
          </p:cNvPicPr>
          <p:nvPr/>
        </p:nvPicPr>
        <p:blipFill>
          <a:blip r:embed="rId3"/>
          <a:stretch>
            <a:fillRect/>
          </a:stretch>
        </p:blipFill>
        <p:spPr>
          <a:xfrm>
            <a:off x="8322137" y="1802465"/>
            <a:ext cx="235549" cy="235549"/>
          </a:xfrm>
          <a:prstGeom prst="rect">
            <a:avLst/>
          </a:prstGeom>
        </p:spPr>
      </p:pic>
      <p:sp>
        <p:nvSpPr>
          <p:cNvPr id="17" name="Card header"/>
          <p:cNvSpPr txBox="1"/>
          <p:nvPr/>
        </p:nvSpPr>
        <p:spPr>
          <a:xfrm>
            <a:off x="8778240" y="1691640"/>
            <a:ext cx="2697480" cy="457200"/>
          </a:xfrm>
          <a:prstGeom prst="rect">
            <a:avLst/>
          </a:prstGeom>
          <a:noFill/>
          <a:ln/>
        </p:spPr>
        <p:txBody>
          <a:bodyPr wrap="square" lIns="0" tIns="0" rIns="0" bIns="0" rtlCol="0" anchor="ctr"/>
          <a:lstStyle/>
          <a:p>
            <a:pPr indent="0" marL="0">
              <a:buNone/>
            </a:pPr>
            <a:r>
              <a:rPr lang="en-US" sz="1700" b="1" dirty="0">
                <a:solidFill>
                  <a:schemeClr val="tx2"/>
                </a:solidFill>
              </a:rPr>
              <a:t>Results: measuring ROI</a:t>
            </a:r>
            <a:endParaRPr lang="en-US" sz="1700" dirty="0"/>
          </a:p>
        </p:txBody>
      </p:sp>
      <p:sp>
        <p:nvSpPr>
          <p:cNvPr id="18" name="ROI formula box"/>
          <p:cNvSpPr/>
          <p:nvPr/>
        </p:nvSpPr>
        <p:spPr>
          <a:xfrm>
            <a:off x="8229600" y="2258568"/>
            <a:ext cx="3246120" cy="502920"/>
          </a:xfrm>
          <a:prstGeom prst="roundRect">
            <a:avLst>
              <a:gd name="adj" fmla="val 14545"/>
            </a:avLst>
          </a:prstGeom>
          <a:solidFill>
            <a:schemeClr val="bg2"/>
          </a:solidFill>
          <a:ln w="9525">
            <a:solidFill>
              <a:schemeClr val="accent6"/>
            </a:solidFill>
            <a:prstDash val="solid"/>
          </a:ln>
        </p:spPr>
      </p:sp>
      <p:sp>
        <p:nvSpPr>
          <p:cNvPr id="19" name="ROI formula"/>
          <p:cNvSpPr txBox="1"/>
          <p:nvPr/>
        </p:nvSpPr>
        <p:spPr>
          <a:xfrm>
            <a:off x="8229600" y="2258568"/>
            <a:ext cx="3246120" cy="502920"/>
          </a:xfrm>
          <a:prstGeom prst="rect">
            <a:avLst/>
          </a:prstGeom>
          <a:noFill/>
          <a:ln/>
        </p:spPr>
        <p:txBody>
          <a:bodyPr wrap="square" lIns="0" tIns="0" rIns="0" bIns="0" rtlCol="0" anchor="ctr"/>
          <a:lstStyle/>
          <a:p>
            <a:pPr algn="ctr" indent="0" marL="0">
              <a:buNone/>
            </a:pPr>
            <a:r>
              <a:rPr lang="en-US" sz="1600" b="1" dirty="0">
                <a:solidFill>
                  <a:schemeClr val="tx2"/>
                </a:solidFill>
              </a:rPr>
              <a:t>ROI = (Benefit − Cost) ÷ Cost × 100</a:t>
            </a:r>
            <a:endParaRPr lang="en-US" sz="1600" dirty="0"/>
          </a:p>
        </p:txBody>
      </p:sp>
      <p:sp>
        <p:nvSpPr>
          <p:cNvPr id="20" name="Bullets"/>
          <p:cNvSpPr txBox="1"/>
          <p:nvPr/>
        </p:nvSpPr>
        <p:spPr>
          <a:xfrm>
            <a:off x="8229600" y="2926080"/>
            <a:ext cx="3246120" cy="2011680"/>
          </a:xfrm>
          <a:prstGeom prst="rect">
            <a:avLst/>
          </a:prstGeom>
          <a:noFill/>
          <a:ln/>
        </p:spPr>
        <p:txBody>
          <a:bodyPr wrap="square" lIns="0" tIns="0" rIns="0" bIns="0" rtlCol="0" anchor="t"/>
          <a:lstStyle/>
          <a:p>
            <a:pPr marL="177800" indent="-177800">
              <a:buSzPct val="100000"/>
              <a:buChar char="•"/>
            </a:pPr>
            <a:r>
              <a:rPr lang="en-US" sz="1600" b="1" dirty="0">
                <a:solidFill>
                  <a:schemeClr val="tx1"/>
                </a:solidFill>
              </a:rPr>
              <a:t>Hard: </a:t>
            </a:r>
            <a:pPr indent="0" marL="0">
              <a:spcAft>
                <a:spcPts val="800"/>
              </a:spcAft>
              <a:buNone/>
            </a:pPr>
            <a:r>
              <a:rPr lang="en-US" sz="1600" dirty="0">
                <a:solidFill>
                  <a:schemeClr val="tx1"/>
                </a:solidFill>
              </a:rPr>
              <a:t>yield, input savings, better price</a:t>
            </a:r>
            <a:endParaRPr lang="en-US" sz="1600" dirty="0"/>
          </a:p>
          <a:p>
            <a:pPr marL="177800" indent="-177800">
              <a:buSzPct val="100000"/>
              <a:buChar char="•"/>
            </a:pPr>
            <a:r>
              <a:rPr lang="en-US" sz="1600" b="1" dirty="0">
                <a:solidFill>
                  <a:schemeClr val="tx1"/>
                </a:solidFill>
              </a:rPr>
              <a:t>Soft: </a:t>
            </a:r>
            <a:pPr indent="0" marL="0">
              <a:spcAft>
                <a:spcPts val="800"/>
              </a:spcAft>
              <a:buNone/>
            </a:pPr>
            <a:r>
              <a:rPr lang="en-US" sz="1600" dirty="0">
                <a:solidFill>
                  <a:schemeClr val="tx1"/>
                </a:solidFill>
              </a:rPr>
              <a:t>faster, better decisions</a:t>
            </a:r>
            <a:endParaRPr lang="en-US" sz="1600" dirty="0"/>
          </a:p>
          <a:p>
            <a:pPr marL="177800" indent="-177800">
              <a:buSzPct val="100000"/>
              <a:buChar char="•"/>
            </a:pPr>
            <a:r>
              <a:rPr lang="en-US" sz="1600" b="1" dirty="0">
                <a:solidFill>
                  <a:schemeClr val="tx1"/>
                </a:solidFill>
              </a:rPr>
              <a:t>Strategic: </a:t>
            </a:r>
            <a:pPr indent="0" marL="0">
              <a:spcAft>
                <a:spcPts val="800"/>
              </a:spcAft>
              <a:buNone/>
            </a:pPr>
            <a:r>
              <a:rPr lang="en-US" sz="1600" dirty="0">
                <a:solidFill>
                  <a:schemeClr val="tx1"/>
                </a:solidFill>
              </a:rPr>
              <a:t>local data others lack</a:t>
            </a:r>
            <a:endParaRPr lang="en-US" sz="1600" dirty="0"/>
          </a:p>
          <a:p>
            <a:pPr marL="177800" indent="-177800">
              <a:buSzPct val="100000"/>
              <a:buChar char="•"/>
            </a:pPr>
            <a:r>
              <a:rPr lang="en-US" sz="1600" b="1" dirty="0">
                <a:solidFill>
                  <a:schemeClr val="tx1"/>
                </a:solidFill>
              </a:rPr>
              <a:t>Our estimate: </a:t>
            </a:r>
            <a:pPr indent="0" marL="0">
              <a:spcAft>
                <a:spcPts val="800"/>
              </a:spcAft>
              <a:buNone/>
            </a:pPr>
            <a:r>
              <a:rPr lang="en-US" sz="1600" dirty="0">
                <a:solidFill>
                  <a:schemeClr val="tx1"/>
                </a:solidFill>
              </a:rPr>
              <a:t>a 20% rise in cultivation income adds about ₹910 a month, about 7% of household income</a:t>
            </a:r>
            <a:endParaRPr lang="en-US" sz="1600" dirty="0"/>
          </a:p>
        </p:txBody>
      </p:sp>
      <p:sp>
        <p:nvSpPr>
          <p:cNvPr id="21" name="Conclusion banner"/>
          <p:cNvSpPr/>
          <p:nvPr/>
        </p:nvSpPr>
        <p:spPr>
          <a:xfrm>
            <a:off x="548640" y="5212080"/>
            <a:ext cx="11091672" cy="914400"/>
          </a:xfrm>
          <a:prstGeom prst="roundRect">
            <a:avLst>
              <a:gd name="adj" fmla="val 10000"/>
            </a:avLst>
          </a:prstGeom>
          <a:solidFill>
            <a:schemeClr val="tx2"/>
          </a:solidFill>
          <a:ln w="12700">
            <a:solidFill>
              <a:schemeClr val="tx2"/>
            </a:solidFill>
            <a:prstDash val="solid"/>
          </a:ln>
        </p:spPr>
      </p:sp>
      <p:sp>
        <p:nvSpPr>
          <p:cNvPr id="22" name="Icon circle"/>
          <p:cNvSpPr/>
          <p:nvPr/>
        </p:nvSpPr>
        <p:spPr>
          <a:xfrm>
            <a:off x="777240" y="5440680"/>
            <a:ext cx="457200" cy="457200"/>
          </a:xfrm>
          <a:prstGeom prst="ellipse">
            <a:avLst/>
          </a:prstGeom>
          <a:solidFill>
            <a:schemeClr val="bg1"/>
          </a:solidFill>
          <a:ln w="12700">
            <a:solidFill>
              <a:schemeClr val="bg1"/>
            </a:solidFill>
            <a:prstDash val="solid"/>
          </a:ln>
        </p:spPr>
      </p:sp>
      <p:pic>
        <p:nvPicPr>
          <p:cNvPr id="23" name="Image 3" descr="icon">    </p:cNvPr>
          <p:cNvPicPr>
            <a:picLocks noChangeAspect="1"/>
          </p:cNvPicPr>
          <p:nvPr/>
        </p:nvPicPr>
        <p:blipFill>
          <a:blip r:embed="rId4"/>
          <a:stretch>
            <a:fillRect/>
          </a:stretch>
        </p:blipFill>
        <p:spPr>
          <a:xfrm>
            <a:off x="877824" y="5541264"/>
            <a:ext cx="256032" cy="256032"/>
          </a:xfrm>
          <a:prstGeom prst="rect">
            <a:avLst/>
          </a:prstGeom>
        </p:spPr>
      </p:pic>
      <p:sp>
        <p:nvSpPr>
          <p:cNvPr id="24" name="Conclusion text"/>
          <p:cNvSpPr txBox="1"/>
          <p:nvPr/>
        </p:nvSpPr>
        <p:spPr>
          <a:xfrm>
            <a:off x="1463040" y="5257800"/>
            <a:ext cx="7680960" cy="822960"/>
          </a:xfrm>
          <a:prstGeom prst="rect">
            <a:avLst/>
          </a:prstGeom>
          <a:noFill/>
          <a:ln/>
        </p:spPr>
        <p:txBody>
          <a:bodyPr wrap="square" lIns="0" tIns="0" rIns="0" bIns="0" rtlCol="0" anchor="ctr"/>
          <a:lstStyle/>
          <a:p>
            <a:pPr indent="0" marL="0">
              <a:buNone/>
            </a:pPr>
            <a:r>
              <a:rPr lang="en-US" sz="1800" b="1" dirty="0">
                <a:solidFill>
                  <a:schemeClr val="bg1"/>
                </a:solidFill>
              </a:rPr>
              <a:t>AI helps farmers most when it is voice-first, shared, tested against a comparison group and judged by net income.</a:t>
            </a:r>
            <a:endParaRPr lang="en-US" sz="1800" dirty="0"/>
          </a:p>
        </p:txBody>
      </p:sp>
      <p:sp>
        <p:nvSpPr>
          <p:cNvPr id="25" name="Thank you"/>
          <p:cNvSpPr txBox="1"/>
          <p:nvPr/>
        </p:nvSpPr>
        <p:spPr>
          <a:xfrm>
            <a:off x="9281160" y="5257800"/>
            <a:ext cx="2194560" cy="822960"/>
          </a:xfrm>
          <a:prstGeom prst="rect">
            <a:avLst/>
          </a:prstGeom>
          <a:noFill/>
          <a:ln/>
        </p:spPr>
        <p:txBody>
          <a:bodyPr wrap="square" lIns="0" tIns="0" rIns="0" bIns="0" rtlCol="0" anchor="ctr"/>
          <a:lstStyle/>
          <a:p>
            <a:pPr algn="r" indent="0" marL="0">
              <a:buNone/>
            </a:pPr>
            <a:r>
              <a:rPr lang="en-US" sz="1800" b="1" dirty="0">
                <a:solidFill>
                  <a:schemeClr val="accent2"/>
                </a:solidFill>
              </a:rPr>
              <a:t>Thank you. Questions?</a:t>
            </a:r>
            <a:endParaRPr lang="en-US" sz="1800" dirty="0"/>
          </a:p>
        </p:txBody>
      </p:sp>
      <p:sp>
        <p:nvSpPr>
          <p:cNvPr id="26" name="Sources"/>
          <p:cNvSpPr txBox="1"/>
          <p:nvPr/>
        </p:nvSpPr>
        <p:spPr>
          <a:xfrm>
            <a:off x="548640" y="6382512"/>
            <a:ext cx="10515600" cy="310896"/>
          </a:xfrm>
          <a:prstGeom prst="rect">
            <a:avLst/>
          </a:prstGeom>
          <a:noFill/>
          <a:ln/>
        </p:spPr>
        <p:txBody>
          <a:bodyPr wrap="square" lIns="0" tIns="0" rIns="0" bIns="0" rtlCol="0" anchor="ctr"/>
          <a:lstStyle/>
          <a:p>
            <a:pPr algn="l" indent="0" marL="0">
              <a:buNone/>
            </a:pPr>
            <a:r>
              <a:rPr lang="en-US" sz="1000" dirty="0">
                <a:solidFill>
                  <a:srgbClr val="5E6B63"/>
                </a:solidFill>
              </a:rPr>
              <a:t>Sources: NSO (2025); PIB (2024); NABARD (2024); course material on AI implementation, ROI and responsible AI. The ₹910 figure is our own estimate.</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griTech Green">
  <a:themeElements>
    <a:clrScheme name="AgriTech Green">
      <a:dk1>
        <a:srgbClr val="1B2A21"/>
      </a:dk1>
      <a:lt1>
        <a:srgbClr val="FFFFFF"/>
      </a:lt1>
      <a:dk2>
        <a:srgbClr val="1F4D36"/>
      </a:dk2>
      <a:lt2>
        <a:srgbClr val="EEF5EF"/>
      </a:lt2>
      <a:accent1>
        <a:srgbClr val="2E7D4F"/>
      </a:accent1>
      <a:accent2>
        <a:srgbClr val="E3A72F"/>
      </a:accent2>
      <a:accent3>
        <a:srgbClr val="8A5A2B"/>
      </a:accent3>
      <a:accent4>
        <a:srgbClr val="2B7A9B"/>
      </a:accent4>
      <a:accent5>
        <a:srgbClr val="B5432C"/>
      </a:accent5>
      <a:accent6>
        <a:srgbClr val="7FB685"/>
      </a:accent6>
      <a:hlink>
        <a:srgbClr val="2B7A9B"/>
      </a:hlink>
      <a:folHlink>
        <a:srgbClr val="8A5A2B"/>
      </a:folHlink>
    </a:clrScheme>
    <a:fontScheme name="AgriTech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Agriculture</dc:title>
  <dc:subject>Introduction to Artificial Intelligence</dc:subject>
  <dc:creator>Group presentation</dc:creator>
  <cp:lastModifiedBy>Group presentation</cp:lastModifiedBy>
  <cp:revision>1</cp:revision>
  <dcterms:created xsi:type="dcterms:W3CDTF">2026-10-17T15:59:54Z</dcterms:created>
  <dcterms:modified xsi:type="dcterms:W3CDTF">2026-10-17T15:59:54Z</dcterms:modified>
</cp:coreProperties>
</file>